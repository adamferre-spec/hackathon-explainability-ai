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58" r:id="rId3"/>
    <p:sldId id="260" r:id="rId4"/>
    <p:sldId id="311" r:id="rId5"/>
    <p:sldId id="312" r:id="rId6"/>
    <p:sldId id="313" r:id="rId7"/>
    <p:sldId id="314" r:id="rId8"/>
    <p:sldId id="315" r:id="rId9"/>
    <p:sldId id="317" r:id="rId10"/>
    <p:sldId id="316" r:id="rId11"/>
    <p:sldId id="318" r:id="rId12"/>
    <p:sldId id="264" r:id="rId13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5"/>
    </p:embeddedFont>
    <p:embeddedFont>
      <p:font typeface="Cairo" panose="020B0604020202020204" charset="-78"/>
      <p:regular r:id="rId16"/>
      <p:bold r:id="rId17"/>
    </p:embeddedFont>
    <p:embeddedFont>
      <p:font typeface="Delius Swash Caps" panose="020B0604020202020204" charset="0"/>
      <p:regular r:id="rId18"/>
    </p:embeddedFont>
    <p:embeddedFont>
      <p:font typeface="Electrolize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0F12CE-A04E-40FF-BC7B-582A4DB7A3B3}">
  <a:tblStyle styleId="{2F0F12CE-A04E-40FF-BC7B-582A4DB7A3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24a59d8d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24a59d8d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24a59d8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24a59d8d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F76B939A-D0FC-FBB7-8726-79075717A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58b4bebab1_0_5:notes">
            <a:extLst>
              <a:ext uri="{FF2B5EF4-FFF2-40B4-BE49-F238E27FC236}">
                <a16:creationId xmlns:a16="http://schemas.microsoft.com/office/drawing/2014/main" id="{B67D52B3-A2E0-D352-CD29-D12CB8909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58b4bebab1_0_5:notes">
            <a:extLst>
              <a:ext uri="{FF2B5EF4-FFF2-40B4-BE49-F238E27FC236}">
                <a16:creationId xmlns:a16="http://schemas.microsoft.com/office/drawing/2014/main" id="{05B07B03-6ADA-AE28-04B8-D78CB913C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34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705B4FC4-E597-2446-699F-3FD2D6DC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24a59d8d2_0_20:notes">
            <a:extLst>
              <a:ext uri="{FF2B5EF4-FFF2-40B4-BE49-F238E27FC236}">
                <a16:creationId xmlns:a16="http://schemas.microsoft.com/office/drawing/2014/main" id="{94259A8E-1D65-8DEE-48FA-47A630C58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24a59d8d2_0_20:notes">
            <a:extLst>
              <a:ext uri="{FF2B5EF4-FFF2-40B4-BE49-F238E27FC236}">
                <a16:creationId xmlns:a16="http://schemas.microsoft.com/office/drawing/2014/main" id="{20D51277-E92D-5773-C48F-CE092C1E0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0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1E6ECBDA-69B0-3184-7A0E-DB6581BC4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58b4bebab1_0_5:notes">
            <a:extLst>
              <a:ext uri="{FF2B5EF4-FFF2-40B4-BE49-F238E27FC236}">
                <a16:creationId xmlns:a16="http://schemas.microsoft.com/office/drawing/2014/main" id="{55AFBDD7-D32D-4C21-DF58-EDD7B42B5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58b4bebab1_0_5:notes">
            <a:extLst>
              <a:ext uri="{FF2B5EF4-FFF2-40B4-BE49-F238E27FC236}">
                <a16:creationId xmlns:a16="http://schemas.microsoft.com/office/drawing/2014/main" id="{4C6990F3-9FA5-5E90-1B31-480E01CE9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534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>
          <a:extLst>
            <a:ext uri="{FF2B5EF4-FFF2-40B4-BE49-F238E27FC236}">
              <a16:creationId xmlns:a16="http://schemas.microsoft.com/office/drawing/2014/main" id="{6E966F31-CD56-B58A-AEF0-EA4B815A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58b4bebab1_0_131:notes">
            <a:extLst>
              <a:ext uri="{FF2B5EF4-FFF2-40B4-BE49-F238E27FC236}">
                <a16:creationId xmlns:a16="http://schemas.microsoft.com/office/drawing/2014/main" id="{AE21413E-F97A-4B17-6090-76BCBFF39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58b4bebab1_0_131:notes">
            <a:extLst>
              <a:ext uri="{FF2B5EF4-FFF2-40B4-BE49-F238E27FC236}">
                <a16:creationId xmlns:a16="http://schemas.microsoft.com/office/drawing/2014/main" id="{0B842CBC-D69D-6665-7CAD-269DAF3513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151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D935E283-77DF-65A8-381D-6911943D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24a59d8d2_0_20:notes">
            <a:extLst>
              <a:ext uri="{FF2B5EF4-FFF2-40B4-BE49-F238E27FC236}">
                <a16:creationId xmlns:a16="http://schemas.microsoft.com/office/drawing/2014/main" id="{D7C149C2-0C7E-62E7-F050-A95970DC52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24a59d8d2_0_20:notes">
            <a:extLst>
              <a:ext uri="{FF2B5EF4-FFF2-40B4-BE49-F238E27FC236}">
                <a16:creationId xmlns:a16="http://schemas.microsoft.com/office/drawing/2014/main" id="{53A664C6-0155-E8F0-6A55-243E6A654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64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>
          <a:extLst>
            <a:ext uri="{FF2B5EF4-FFF2-40B4-BE49-F238E27FC236}">
              <a16:creationId xmlns:a16="http://schemas.microsoft.com/office/drawing/2014/main" id="{32815C39-756D-5AA5-4B4B-81DD0289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58b4bebab1_0_16:notes">
            <a:extLst>
              <a:ext uri="{FF2B5EF4-FFF2-40B4-BE49-F238E27FC236}">
                <a16:creationId xmlns:a16="http://schemas.microsoft.com/office/drawing/2014/main" id="{43BC05D2-3969-DF88-823A-C36D45213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58b4bebab1_0_16:notes">
            <a:extLst>
              <a:ext uri="{FF2B5EF4-FFF2-40B4-BE49-F238E27FC236}">
                <a16:creationId xmlns:a16="http://schemas.microsoft.com/office/drawing/2014/main" id="{5B44B191-ADD1-59D4-5009-5AA417005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567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187CFFFD-F1D9-F0E9-A58E-D6CFFCD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224a59d8d2_0_20:notes">
            <a:extLst>
              <a:ext uri="{FF2B5EF4-FFF2-40B4-BE49-F238E27FC236}">
                <a16:creationId xmlns:a16="http://schemas.microsoft.com/office/drawing/2014/main" id="{CDABA528-CDA8-76FE-89E7-D85DE7951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224a59d8d2_0_20:notes">
            <a:extLst>
              <a:ext uri="{FF2B5EF4-FFF2-40B4-BE49-F238E27FC236}">
                <a16:creationId xmlns:a16="http://schemas.microsoft.com/office/drawing/2014/main" id="{18868C0A-774D-5D04-3B07-6CCB4038F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81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>
          <a:extLst>
            <a:ext uri="{FF2B5EF4-FFF2-40B4-BE49-F238E27FC236}">
              <a16:creationId xmlns:a16="http://schemas.microsoft.com/office/drawing/2014/main" id="{6C2C8CAA-CA0A-9231-1AB0-F8147C27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58b4bebab1_0_444:notes">
            <a:extLst>
              <a:ext uri="{FF2B5EF4-FFF2-40B4-BE49-F238E27FC236}">
                <a16:creationId xmlns:a16="http://schemas.microsoft.com/office/drawing/2014/main" id="{F6E8796C-A73D-CB61-CF43-168354179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58b4bebab1_0_444:notes">
            <a:extLst>
              <a:ext uri="{FF2B5EF4-FFF2-40B4-BE49-F238E27FC236}">
                <a16:creationId xmlns:a16="http://schemas.microsoft.com/office/drawing/2014/main" id="{DCF74147-EDCE-0FCA-4DFA-D7CCEA337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158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58b4beba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58b4bebab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411050" y="922025"/>
            <a:ext cx="4098900" cy="26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solidFill>
                  <a:schemeClr val="lt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411050" y="3585725"/>
            <a:ext cx="4098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85925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3602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715100" y="1785888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200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2" hasCustomPrompt="1"/>
          </p:nvPr>
        </p:nvSpPr>
        <p:spPr>
          <a:xfrm>
            <a:off x="3398900" y="1785888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34038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4" hasCustomPrompt="1"/>
          </p:nvPr>
        </p:nvSpPr>
        <p:spPr>
          <a:xfrm>
            <a:off x="6087600" y="1785863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092500" y="314636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7151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34038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6087600" y="2796838"/>
            <a:ext cx="2336400" cy="44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9_1_1_2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2"/>
          <p:cNvSpPr txBox="1">
            <a:spLocks noGrp="1"/>
          </p:cNvSpPr>
          <p:nvPr>
            <p:ph type="subTitle" idx="1"/>
          </p:nvPr>
        </p:nvSpPr>
        <p:spPr>
          <a:xfrm>
            <a:off x="967725" y="2641475"/>
            <a:ext cx="2817300" cy="11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967875" y="1328100"/>
            <a:ext cx="2817300" cy="13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5"/>
          <p:cNvPicPr preferRelativeResize="0"/>
          <p:nvPr/>
        </p:nvPicPr>
        <p:blipFill rotWithShape="1">
          <a:blip r:embed="rId2">
            <a:alphaModFix/>
          </a:blip>
          <a:srcRect l="5891" t="6362" r="6834" b="63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>
            <a:spLocks noGrp="1"/>
          </p:cNvSpPr>
          <p:nvPr>
            <p:ph type="subTitle" idx="1"/>
          </p:nvPr>
        </p:nvSpPr>
        <p:spPr>
          <a:xfrm>
            <a:off x="7200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subTitle" idx="2"/>
          </p:nvPr>
        </p:nvSpPr>
        <p:spPr>
          <a:xfrm>
            <a:off x="7200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subTitle" idx="3"/>
          </p:nvPr>
        </p:nvSpPr>
        <p:spPr>
          <a:xfrm>
            <a:off x="34038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subTitle" idx="4"/>
          </p:nvPr>
        </p:nvSpPr>
        <p:spPr>
          <a:xfrm>
            <a:off x="6087600" y="30860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subTitle" idx="5"/>
          </p:nvPr>
        </p:nvSpPr>
        <p:spPr>
          <a:xfrm>
            <a:off x="34038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ubTitle" idx="6"/>
          </p:nvPr>
        </p:nvSpPr>
        <p:spPr>
          <a:xfrm>
            <a:off x="6087600" y="2764950"/>
            <a:ext cx="2336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25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7"/>
          <p:cNvSpPr txBox="1">
            <a:spLocks noGrp="1"/>
          </p:cNvSpPr>
          <p:nvPr>
            <p:ph type="subTitle" idx="1"/>
          </p:nvPr>
        </p:nvSpPr>
        <p:spPr>
          <a:xfrm>
            <a:off x="4951450" y="13282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subTitle" idx="2"/>
          </p:nvPr>
        </p:nvSpPr>
        <p:spPr>
          <a:xfrm>
            <a:off x="4951450" y="16493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ubTitle" idx="3"/>
          </p:nvPr>
        </p:nvSpPr>
        <p:spPr>
          <a:xfrm>
            <a:off x="4951450" y="27446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4"/>
          </p:nvPr>
        </p:nvSpPr>
        <p:spPr>
          <a:xfrm>
            <a:off x="4951450" y="3839900"/>
            <a:ext cx="304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ubTitle" idx="5"/>
          </p:nvPr>
        </p:nvSpPr>
        <p:spPr>
          <a:xfrm>
            <a:off x="4951450" y="24235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6"/>
          </p:nvPr>
        </p:nvSpPr>
        <p:spPr>
          <a:xfrm>
            <a:off x="4951450" y="3518800"/>
            <a:ext cx="3044400" cy="41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300">
                <a:latin typeface="Electrolize"/>
                <a:ea typeface="Electrolize"/>
                <a:cs typeface="Electrolize"/>
                <a:sym typeface="Electroliz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 rotWithShape="1">
          <a:blip r:embed="rId2">
            <a:alphaModFix/>
          </a:blip>
          <a:srcRect t="7098" r="10722" b="3625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>
            <a:spLocks noGrp="1"/>
          </p:cNvSpPr>
          <p:nvPr>
            <p:ph type="subTitle" idx="1"/>
          </p:nvPr>
        </p:nvSpPr>
        <p:spPr>
          <a:xfrm>
            <a:off x="5629350" y="186022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2"/>
          </p:nvPr>
        </p:nvSpPr>
        <p:spPr>
          <a:xfrm>
            <a:off x="5629375" y="149590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3"/>
          </p:nvPr>
        </p:nvSpPr>
        <p:spPr>
          <a:xfrm>
            <a:off x="1997500" y="186022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4"/>
          </p:nvPr>
        </p:nvSpPr>
        <p:spPr>
          <a:xfrm>
            <a:off x="1997500" y="149590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ubTitle" idx="5"/>
          </p:nvPr>
        </p:nvSpPr>
        <p:spPr>
          <a:xfrm>
            <a:off x="1997500" y="363337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6"/>
          </p:nvPr>
        </p:nvSpPr>
        <p:spPr>
          <a:xfrm>
            <a:off x="1997500" y="326425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7"/>
          </p:nvPr>
        </p:nvSpPr>
        <p:spPr>
          <a:xfrm>
            <a:off x="5629350" y="3633375"/>
            <a:ext cx="218790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8"/>
          </p:nvPr>
        </p:nvSpPr>
        <p:spPr>
          <a:xfrm>
            <a:off x="5629375" y="3264250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3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4"/>
          <p:cNvPicPr preferRelativeResize="0"/>
          <p:nvPr/>
        </p:nvPicPr>
        <p:blipFill rotWithShape="1">
          <a:blip r:embed="rId2">
            <a:alphaModFix/>
          </a:blip>
          <a:srcRect t="7098" r="10722" b="3625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8" r:id="rId5"/>
    <p:sldLayoutId id="2147483671" r:id="rId6"/>
    <p:sldLayoutId id="2147483673" r:id="rId7"/>
    <p:sldLayoutId id="2147483674" r:id="rId8"/>
    <p:sldLayoutId id="2147483680" r:id="rId9"/>
    <p:sldLayoutId id="214748368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>
            <a:spLocks noGrp="1"/>
          </p:cNvSpPr>
          <p:nvPr>
            <p:ph type="ctrTitle"/>
          </p:nvPr>
        </p:nvSpPr>
        <p:spPr>
          <a:xfrm>
            <a:off x="4411050" y="922025"/>
            <a:ext cx="4330614" cy="26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</a:rPr>
              <a:t>PFIZER HR ATTRITION PREDICTOR </a:t>
            </a:r>
            <a:br>
              <a:rPr lang="en" sz="3200" b="1" dirty="0">
                <a:solidFill>
                  <a:schemeClr val="dk1"/>
                </a:solidFill>
              </a:rPr>
            </a:br>
            <a:r>
              <a:rPr lang="en" sz="3200" dirty="0"/>
              <a:t>RETAINING OUR SCIENTIFIC TALENT</a:t>
            </a:r>
            <a:endParaRPr sz="3200" dirty="0"/>
          </a:p>
        </p:txBody>
      </p:sp>
      <p:sp>
        <p:nvSpPr>
          <p:cNvPr id="215" name="Google Shape;215;p41"/>
          <p:cNvSpPr txBox="1">
            <a:spLocks noGrp="1"/>
          </p:cNvSpPr>
          <p:nvPr>
            <p:ph type="subTitle" idx="1"/>
          </p:nvPr>
        </p:nvSpPr>
        <p:spPr>
          <a:xfrm>
            <a:off x="4411050" y="3585725"/>
            <a:ext cx="40989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Squad  HR Analytics</a:t>
            </a:r>
            <a:endParaRPr dirty="0"/>
          </a:p>
        </p:txBody>
      </p:sp>
      <p:pic>
        <p:nvPicPr>
          <p:cNvPr id="216" name="Google Shape;216;p41"/>
          <p:cNvPicPr preferRelativeResize="0"/>
          <p:nvPr/>
        </p:nvPicPr>
        <p:blipFill rotWithShape="1">
          <a:blip r:embed="rId3">
            <a:alphaModFix/>
          </a:blip>
          <a:srcRect l="13664" t="5546" r="23253" b="6006"/>
          <a:stretch/>
        </p:blipFill>
        <p:spPr>
          <a:xfrm>
            <a:off x="758750" y="-125175"/>
            <a:ext cx="3190148" cy="449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>
            <a:spLocks noGrp="1"/>
          </p:cNvSpPr>
          <p:nvPr>
            <p:ph type="subTitle" idx="1"/>
          </p:nvPr>
        </p:nvSpPr>
        <p:spPr>
          <a:xfrm>
            <a:off x="984017" y="2560383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Challenge of Employee Retention at Pfizer</a:t>
            </a:r>
          </a:p>
        </p:txBody>
      </p:sp>
      <p:sp>
        <p:nvSpPr>
          <p:cNvPr id="231" name="Google Shape;231;p43"/>
          <p:cNvSpPr txBox="1">
            <a:spLocks noGrp="1"/>
          </p:cNvSpPr>
          <p:nvPr>
            <p:ph type="subTitle" idx="3"/>
          </p:nvPr>
        </p:nvSpPr>
        <p:spPr>
          <a:xfrm>
            <a:off x="3667817" y="2560383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Presentation &amp; Demo</a:t>
            </a:r>
            <a:endParaRPr dirty="0"/>
          </a:p>
        </p:txBody>
      </p:sp>
      <p:sp>
        <p:nvSpPr>
          <p:cNvPr id="232" name="Google Shape;232;p43"/>
          <p:cNvSpPr txBox="1">
            <a:spLocks noGrp="1"/>
          </p:cNvSpPr>
          <p:nvPr>
            <p:ph type="subTitle" idx="5"/>
          </p:nvPr>
        </p:nvSpPr>
        <p:spPr>
          <a:xfrm>
            <a:off x="1074165" y="4546133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IA Act &amp; GDPR compliance</a:t>
            </a:r>
            <a:endParaRPr dirty="0"/>
          </a:p>
        </p:txBody>
      </p:sp>
      <p:sp>
        <p:nvSpPr>
          <p:cNvPr id="233" name="Google Shape;233;p43"/>
          <p:cNvSpPr txBox="1">
            <a:spLocks noGrp="1"/>
          </p:cNvSpPr>
          <p:nvPr>
            <p:ph type="subTitle" idx="6"/>
          </p:nvPr>
        </p:nvSpPr>
        <p:spPr>
          <a:xfrm>
            <a:off x="979117" y="2210855"/>
            <a:ext cx="23364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234" name="Google Shape;234;p43"/>
          <p:cNvSpPr txBox="1">
            <a:spLocks noGrp="1"/>
          </p:cNvSpPr>
          <p:nvPr>
            <p:ph type="subTitle" idx="7"/>
          </p:nvPr>
        </p:nvSpPr>
        <p:spPr>
          <a:xfrm>
            <a:off x="3667817" y="2210855"/>
            <a:ext cx="23364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235" name="Google Shape;235;p43"/>
          <p:cNvSpPr txBox="1">
            <a:spLocks noGrp="1"/>
          </p:cNvSpPr>
          <p:nvPr>
            <p:ph type="subTitle" idx="8"/>
          </p:nvPr>
        </p:nvSpPr>
        <p:spPr>
          <a:xfrm>
            <a:off x="1037070" y="4196605"/>
            <a:ext cx="2605296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CYBERSECURITY</a:t>
            </a:r>
            <a:endParaRPr dirty="0"/>
          </a:p>
        </p:txBody>
      </p:sp>
      <p:sp>
        <p:nvSpPr>
          <p:cNvPr id="236" name="Google Shape;236;p43"/>
          <p:cNvSpPr txBox="1">
            <a:spLocks noGrp="1"/>
          </p:cNvSpPr>
          <p:nvPr>
            <p:ph type="title"/>
          </p:nvPr>
        </p:nvSpPr>
        <p:spPr>
          <a:xfrm>
            <a:off x="979117" y="1199905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7" name="Google Shape;237;p43"/>
          <p:cNvSpPr txBox="1">
            <a:spLocks noGrp="1"/>
          </p:cNvSpPr>
          <p:nvPr>
            <p:ph type="title" idx="2"/>
          </p:nvPr>
        </p:nvSpPr>
        <p:spPr>
          <a:xfrm>
            <a:off x="3662917" y="1199905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8" name="Google Shape;238;p43"/>
          <p:cNvSpPr txBox="1">
            <a:spLocks noGrp="1"/>
          </p:cNvSpPr>
          <p:nvPr>
            <p:ph type="title" idx="4"/>
          </p:nvPr>
        </p:nvSpPr>
        <p:spPr>
          <a:xfrm>
            <a:off x="1037070" y="3185630"/>
            <a:ext cx="12753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39" name="Google Shape;239;p43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TABLE OF </a:t>
            </a:r>
            <a:r>
              <a:rPr lang="en" dirty="0"/>
              <a:t>CONTENTS</a:t>
            </a:r>
            <a:endParaRPr dirty="0"/>
          </a:p>
        </p:txBody>
      </p:sp>
      <p:sp>
        <p:nvSpPr>
          <p:cNvPr id="2" name="Google Shape;232;p43">
            <a:extLst>
              <a:ext uri="{FF2B5EF4-FFF2-40B4-BE49-F238E27FC236}">
                <a16:creationId xmlns:a16="http://schemas.microsoft.com/office/drawing/2014/main" id="{64CB0855-4E2C-870C-1A07-E7E19966CDA4}"/>
              </a:ext>
            </a:extLst>
          </p:cNvPr>
          <p:cNvSpPr txBox="1">
            <a:spLocks/>
          </p:cNvSpPr>
          <p:nvPr/>
        </p:nvSpPr>
        <p:spPr>
          <a:xfrm>
            <a:off x="3744387" y="4522703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US" dirty="0"/>
              <a:t>Understand to Act</a:t>
            </a:r>
          </a:p>
        </p:txBody>
      </p:sp>
      <p:sp>
        <p:nvSpPr>
          <p:cNvPr id="3" name="Google Shape;235;p43">
            <a:extLst>
              <a:ext uri="{FF2B5EF4-FFF2-40B4-BE49-F238E27FC236}">
                <a16:creationId xmlns:a16="http://schemas.microsoft.com/office/drawing/2014/main" id="{875DC3D7-22D1-D735-B562-79FD63AFEBEE}"/>
              </a:ext>
            </a:extLst>
          </p:cNvPr>
          <p:cNvSpPr txBox="1">
            <a:spLocks/>
          </p:cNvSpPr>
          <p:nvPr/>
        </p:nvSpPr>
        <p:spPr>
          <a:xfrm>
            <a:off x="3739487" y="4173175"/>
            <a:ext cx="2605296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fr-FR" dirty="0"/>
              <a:t>EXPLAINABLE AI</a:t>
            </a:r>
          </a:p>
        </p:txBody>
      </p:sp>
      <p:sp>
        <p:nvSpPr>
          <p:cNvPr id="4" name="Google Shape;238;p43">
            <a:extLst>
              <a:ext uri="{FF2B5EF4-FFF2-40B4-BE49-F238E27FC236}">
                <a16:creationId xmlns:a16="http://schemas.microsoft.com/office/drawing/2014/main" id="{F564AE4D-C19E-699A-155B-19395767E59A}"/>
              </a:ext>
            </a:extLst>
          </p:cNvPr>
          <p:cNvSpPr txBox="1">
            <a:spLocks/>
          </p:cNvSpPr>
          <p:nvPr/>
        </p:nvSpPr>
        <p:spPr>
          <a:xfrm>
            <a:off x="3739487" y="3162200"/>
            <a:ext cx="1275300" cy="9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6000" b="1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lectrolize"/>
              <a:buNone/>
              <a:defRPr sz="30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r>
              <a:rPr lang="en" dirty="0"/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251" name="Google Shape;251;p45"/>
          <p:cNvSpPr txBox="1">
            <a:spLocks noGrp="1"/>
          </p:cNvSpPr>
          <p:nvPr>
            <p:ph type="title" idx="2"/>
          </p:nvPr>
        </p:nvSpPr>
        <p:spPr>
          <a:xfrm>
            <a:off x="385925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2" name="Google Shape;252;p45"/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650766" cy="423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Challenge of Employee Retention at Pfizer</a:t>
            </a:r>
            <a:endParaRPr dirty="0"/>
          </a:p>
        </p:txBody>
      </p:sp>
      <p:pic>
        <p:nvPicPr>
          <p:cNvPr id="253" name="Google Shape;253;p45"/>
          <p:cNvPicPr preferRelativeResize="0"/>
          <p:nvPr/>
        </p:nvPicPr>
        <p:blipFill rotWithShape="1">
          <a:blip r:embed="rId3">
            <a:alphaModFix/>
          </a:blip>
          <a:srcRect l="14336" r="14343"/>
          <a:stretch/>
        </p:blipFill>
        <p:spPr>
          <a:xfrm>
            <a:off x="793150" y="348250"/>
            <a:ext cx="3023699" cy="42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E72C4D85-A06F-0CA0-B651-3790986C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>
            <a:extLst>
              <a:ext uri="{FF2B5EF4-FFF2-40B4-BE49-F238E27FC236}">
                <a16:creationId xmlns:a16="http://schemas.microsoft.com/office/drawing/2014/main" id="{C7EE080C-0D10-43A6-1575-D57F477C8E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6849" y="2474358"/>
            <a:ext cx="2462112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IMPACT OF TURNOVER</a:t>
            </a:r>
            <a:endParaRPr dirty="0"/>
          </a:p>
        </p:txBody>
      </p:sp>
      <p:sp>
        <p:nvSpPr>
          <p:cNvPr id="293" name="Google Shape;293;p49">
            <a:extLst>
              <a:ext uri="{FF2B5EF4-FFF2-40B4-BE49-F238E27FC236}">
                <a16:creationId xmlns:a16="http://schemas.microsoft.com/office/drawing/2014/main" id="{09CAF189-A315-F988-35BD-0F1C94FB0FE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8880" y="2887158"/>
            <a:ext cx="2657520" cy="19334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Brain drain of critical expertise (R&amp;D, Regulatory Affairs, Supply Chain)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 slowdown in our innovation cycles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Significant increase in operating costs</a:t>
            </a:r>
            <a:endParaRPr dirty="0"/>
          </a:p>
        </p:txBody>
      </p:sp>
      <p:sp>
        <p:nvSpPr>
          <p:cNvPr id="294" name="Google Shape;294;p49">
            <a:extLst>
              <a:ext uri="{FF2B5EF4-FFF2-40B4-BE49-F238E27FC236}">
                <a16:creationId xmlns:a16="http://schemas.microsoft.com/office/drawing/2014/main" id="{96625145-B10F-7881-7B8B-B5DDBC76D95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77520" y="2887158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In-depth analysis of the reasons for employee turnover.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Proactively retaining our strategic talent.</a:t>
            </a:r>
            <a:endParaRPr dirty="0"/>
          </a:p>
        </p:txBody>
      </p:sp>
      <p:sp>
        <p:nvSpPr>
          <p:cNvPr id="295" name="Google Shape;295;p49">
            <a:extLst>
              <a:ext uri="{FF2B5EF4-FFF2-40B4-BE49-F238E27FC236}">
                <a16:creationId xmlns:a16="http://schemas.microsoft.com/office/drawing/2014/main" id="{C45BBC63-A4C8-3610-3EE0-E1F1D8CC9C6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035040" y="2840355"/>
            <a:ext cx="2657520" cy="16932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highly sensitive nature of our colleagues' personal data.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Absolute protection, confidentiality, and compliance are essential.</a:t>
            </a:r>
            <a:endParaRPr dirty="0"/>
          </a:p>
        </p:txBody>
      </p:sp>
      <p:sp>
        <p:nvSpPr>
          <p:cNvPr id="296" name="Google Shape;296;p49">
            <a:extLst>
              <a:ext uri="{FF2B5EF4-FFF2-40B4-BE49-F238E27FC236}">
                <a16:creationId xmlns:a16="http://schemas.microsoft.com/office/drawing/2014/main" id="{4ED1E883-EBDF-0933-F553-DE11A2BEC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THE CHALLENGE OF EMPLOYEE RETENTION</a:t>
            </a:r>
            <a:endParaRPr dirty="0"/>
          </a:p>
        </p:txBody>
      </p:sp>
      <p:sp>
        <p:nvSpPr>
          <p:cNvPr id="297" name="Google Shape;297;p49">
            <a:extLst>
              <a:ext uri="{FF2B5EF4-FFF2-40B4-BE49-F238E27FC236}">
                <a16:creationId xmlns:a16="http://schemas.microsoft.com/office/drawing/2014/main" id="{E0732964-5EBE-9FEB-1925-2A0F7BF3724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66579" y="2286791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298" name="Google Shape;298;p49">
            <a:extLst>
              <a:ext uri="{FF2B5EF4-FFF2-40B4-BE49-F238E27FC236}">
                <a16:creationId xmlns:a16="http://schemas.microsoft.com/office/drawing/2014/main" id="{A87E24E7-05C8-DC36-4C49-015A61177AD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356160" y="2290860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89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AAE430DE-5BF0-9D3D-7E28-2F69EFDD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>
            <a:extLst>
              <a:ext uri="{FF2B5EF4-FFF2-40B4-BE49-F238E27FC236}">
                <a16:creationId xmlns:a16="http://schemas.microsoft.com/office/drawing/2014/main" id="{9C8BBC44-7B3B-78F0-F4D9-F2AE8D541B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251" name="Google Shape;251;p45">
            <a:extLst>
              <a:ext uri="{FF2B5EF4-FFF2-40B4-BE49-F238E27FC236}">
                <a16:creationId xmlns:a16="http://schemas.microsoft.com/office/drawing/2014/main" id="{F7BE40C4-BA80-8DF6-E3FD-4B6F8AE5539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5925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52" name="Google Shape;252;p45">
            <a:extLst>
              <a:ext uri="{FF2B5EF4-FFF2-40B4-BE49-F238E27FC236}">
                <a16:creationId xmlns:a16="http://schemas.microsoft.com/office/drawing/2014/main" id="{FA31F4E2-7CAD-A07D-F777-B4EA66B031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650766" cy="423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Presentation &amp; Demo</a:t>
            </a:r>
            <a:endParaRPr dirty="0"/>
          </a:p>
        </p:txBody>
      </p:sp>
      <p:pic>
        <p:nvPicPr>
          <p:cNvPr id="253" name="Google Shape;253;p45">
            <a:extLst>
              <a:ext uri="{FF2B5EF4-FFF2-40B4-BE49-F238E27FC236}">
                <a16:creationId xmlns:a16="http://schemas.microsoft.com/office/drawing/2014/main" id="{60C04C67-7199-BAC8-FF2C-5676ED51A5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336" r="14343"/>
          <a:stretch/>
        </p:blipFill>
        <p:spPr>
          <a:xfrm>
            <a:off x="793150" y="348250"/>
            <a:ext cx="3023699" cy="4260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51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512E01E5-7313-110C-8AD4-2033DE48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>
            <a:extLst>
              <a:ext uri="{FF2B5EF4-FFF2-40B4-BE49-F238E27FC236}">
                <a16:creationId xmlns:a16="http://schemas.microsoft.com/office/drawing/2014/main" id="{3006F53F-21AD-5F4D-CF21-AAD74633FF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996598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PROTECT</a:t>
            </a:r>
            <a:endParaRPr dirty="0"/>
          </a:p>
        </p:txBody>
      </p:sp>
      <p:sp>
        <p:nvSpPr>
          <p:cNvPr id="293" name="Google Shape;293;p49">
            <a:extLst>
              <a:ext uri="{FF2B5EF4-FFF2-40B4-BE49-F238E27FC236}">
                <a16:creationId xmlns:a16="http://schemas.microsoft.com/office/drawing/2014/main" id="{45061CD3-F912-D7AE-0627-659D4471C0C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3317706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Strict anonymization</a:t>
            </a:r>
            <a:endParaRPr dirty="0"/>
          </a:p>
        </p:txBody>
      </p:sp>
      <p:sp>
        <p:nvSpPr>
          <p:cNvPr id="294" name="Google Shape;294;p49">
            <a:extLst>
              <a:ext uri="{FF2B5EF4-FFF2-40B4-BE49-F238E27FC236}">
                <a16:creationId xmlns:a16="http://schemas.microsoft.com/office/drawing/2014/main" id="{37A0F0C8-93BC-CEE7-399C-697F72B4F50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403800" y="3317706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Explainable AI</a:t>
            </a:r>
            <a:endParaRPr dirty="0"/>
          </a:p>
        </p:txBody>
      </p:sp>
      <p:sp>
        <p:nvSpPr>
          <p:cNvPr id="295" name="Google Shape;295;p49">
            <a:extLst>
              <a:ext uri="{FF2B5EF4-FFF2-40B4-BE49-F238E27FC236}">
                <a16:creationId xmlns:a16="http://schemas.microsoft.com/office/drawing/2014/main" id="{64157A0D-4E99-B481-2789-30E5EB4C35A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267905" y="3317706"/>
            <a:ext cx="2336400" cy="7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Suggestion engine</a:t>
            </a:r>
            <a:endParaRPr dirty="0"/>
          </a:p>
        </p:txBody>
      </p:sp>
      <p:sp>
        <p:nvSpPr>
          <p:cNvPr id="296" name="Google Shape;296;p49">
            <a:extLst>
              <a:ext uri="{FF2B5EF4-FFF2-40B4-BE49-F238E27FC236}">
                <a16:creationId xmlns:a16="http://schemas.microsoft.com/office/drawing/2014/main" id="{8209E058-A3B1-FC7E-7ED2-CF0F42E40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OUR SOLUTION </a:t>
            </a:r>
            <a:endParaRPr dirty="0"/>
          </a:p>
        </p:txBody>
      </p:sp>
      <p:sp>
        <p:nvSpPr>
          <p:cNvPr id="297" name="Google Shape;297;p49">
            <a:extLst>
              <a:ext uri="{FF2B5EF4-FFF2-40B4-BE49-F238E27FC236}">
                <a16:creationId xmlns:a16="http://schemas.microsoft.com/office/drawing/2014/main" id="{36DB0387-C0C5-CA0C-7500-8CA7DFC47C4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3800" y="2996598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UNDERSTAND</a:t>
            </a:r>
            <a:endParaRPr dirty="0"/>
          </a:p>
        </p:txBody>
      </p:sp>
      <p:sp>
        <p:nvSpPr>
          <p:cNvPr id="298" name="Google Shape;298;p49">
            <a:extLst>
              <a:ext uri="{FF2B5EF4-FFF2-40B4-BE49-F238E27FC236}">
                <a16:creationId xmlns:a16="http://schemas.microsoft.com/office/drawing/2014/main" id="{75E90D9B-F34B-D0EC-D269-C8DDF5EAAEC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13356" y="2996598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</a:t>
            </a:r>
            <a:endParaRPr dirty="0"/>
          </a:p>
        </p:txBody>
      </p:sp>
      <p:sp>
        <p:nvSpPr>
          <p:cNvPr id="2" name="Google Shape;258;p46">
            <a:extLst>
              <a:ext uri="{FF2B5EF4-FFF2-40B4-BE49-F238E27FC236}">
                <a16:creationId xmlns:a16="http://schemas.microsoft.com/office/drawing/2014/main" id="{2C089790-F67D-9974-4AE8-FFD26EDCF7F3}"/>
              </a:ext>
            </a:extLst>
          </p:cNvPr>
          <p:cNvSpPr txBox="1">
            <a:spLocks/>
          </p:cNvSpPr>
          <p:nvPr/>
        </p:nvSpPr>
        <p:spPr>
          <a:xfrm>
            <a:off x="720000" y="1257642"/>
            <a:ext cx="4881350" cy="12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-US" dirty="0"/>
              <a:t>A 3-step application process :</a:t>
            </a:r>
          </a:p>
        </p:txBody>
      </p:sp>
      <p:sp>
        <p:nvSpPr>
          <p:cNvPr id="8" name="Google Shape;258;p46">
            <a:extLst>
              <a:ext uri="{FF2B5EF4-FFF2-40B4-BE49-F238E27FC236}">
                <a16:creationId xmlns:a16="http://schemas.microsoft.com/office/drawing/2014/main" id="{7351A6C1-22D2-8AB4-4FFD-DA1A8CF05036}"/>
              </a:ext>
            </a:extLst>
          </p:cNvPr>
          <p:cNvSpPr txBox="1">
            <a:spLocks/>
          </p:cNvSpPr>
          <p:nvPr/>
        </p:nvSpPr>
        <p:spPr>
          <a:xfrm>
            <a:off x="760452" y="3931236"/>
            <a:ext cx="7704000" cy="12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l"/>
            <a:r>
              <a:rPr lang="en-US" sz="1800" dirty="0"/>
              <a:t>Goal : Secure HR data (GDPR compliance) and make model explainable and transparent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89C7314-D166-C81F-EB1B-08A48C139AC8}"/>
              </a:ext>
            </a:extLst>
          </p:cNvPr>
          <p:cNvCxnSpPr>
            <a:cxnSpLocks/>
          </p:cNvCxnSpPr>
          <p:nvPr/>
        </p:nvCxnSpPr>
        <p:spPr>
          <a:xfrm flipV="1">
            <a:off x="2258238" y="2446916"/>
            <a:ext cx="1785406" cy="1031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9F375C0-465B-63DE-CDFA-F3FDD0283969}"/>
              </a:ext>
            </a:extLst>
          </p:cNvPr>
          <p:cNvCxnSpPr>
            <a:cxnSpLocks/>
          </p:cNvCxnSpPr>
          <p:nvPr/>
        </p:nvCxnSpPr>
        <p:spPr>
          <a:xfrm flipV="1">
            <a:off x="5080715" y="2446916"/>
            <a:ext cx="1833002" cy="10317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Graphique 17" descr="Bouclier coche avec un remplissage uni">
            <a:extLst>
              <a:ext uri="{FF2B5EF4-FFF2-40B4-BE49-F238E27FC236}">
                <a16:creationId xmlns:a16="http://schemas.microsoft.com/office/drawing/2014/main" id="{286429A4-FDFA-B433-60CC-4EA55AAC8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5653" y="1921644"/>
            <a:ext cx="914400" cy="914400"/>
          </a:xfrm>
          <a:prstGeom prst="rect">
            <a:avLst/>
          </a:prstGeom>
        </p:spPr>
      </p:pic>
      <p:pic>
        <p:nvPicPr>
          <p:cNvPr id="20" name="Graphique 19" descr="Cerveau avec un remplissage uni">
            <a:extLst>
              <a:ext uri="{FF2B5EF4-FFF2-40B4-BE49-F238E27FC236}">
                <a16:creationId xmlns:a16="http://schemas.microsoft.com/office/drawing/2014/main" id="{4D0E18FE-05FB-2FF9-FB6C-115F879F8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788" y="1869886"/>
            <a:ext cx="914400" cy="914400"/>
          </a:xfrm>
          <a:prstGeom prst="rect">
            <a:avLst/>
          </a:prstGeom>
        </p:spPr>
      </p:pic>
      <p:pic>
        <p:nvPicPr>
          <p:cNvPr id="24" name="Graphique 23" descr="Curseur avec un remplissage uni">
            <a:extLst>
              <a:ext uri="{FF2B5EF4-FFF2-40B4-BE49-F238E27FC236}">
                <a16:creationId xmlns:a16="http://schemas.microsoft.com/office/drawing/2014/main" id="{A694D782-E4E7-CE73-0393-B96C7F57E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356" y="194626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9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>
          <a:extLst>
            <a:ext uri="{FF2B5EF4-FFF2-40B4-BE49-F238E27FC236}">
              <a16:creationId xmlns:a16="http://schemas.microsoft.com/office/drawing/2014/main" id="{4EE4CE5C-49FC-4811-FA12-D4511D6A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60">
            <a:extLst>
              <a:ext uri="{FF2B5EF4-FFF2-40B4-BE49-F238E27FC236}">
                <a16:creationId xmlns:a16="http://schemas.microsoft.com/office/drawing/2014/main" id="{196A0F3A-D84E-5038-DEDF-8E8AB7B1083D}"/>
              </a:ext>
            </a:extLst>
          </p:cNvPr>
          <p:cNvGrpSpPr/>
          <p:nvPr/>
        </p:nvGrpSpPr>
        <p:grpSpPr>
          <a:xfrm>
            <a:off x="1910169" y="1366730"/>
            <a:ext cx="5337060" cy="3607606"/>
            <a:chOff x="888600" y="1183850"/>
            <a:chExt cx="3846600" cy="2775750"/>
          </a:xfrm>
        </p:grpSpPr>
        <p:sp>
          <p:nvSpPr>
            <p:cNvPr id="442" name="Google Shape;442;p60">
              <a:extLst>
                <a:ext uri="{FF2B5EF4-FFF2-40B4-BE49-F238E27FC236}">
                  <a16:creationId xmlns:a16="http://schemas.microsoft.com/office/drawing/2014/main" id="{96E57C5A-4CE0-910E-3F67-3BA7AE93F941}"/>
                </a:ext>
              </a:extLst>
            </p:cNvPr>
            <p:cNvSpPr/>
            <p:nvPr/>
          </p:nvSpPr>
          <p:spPr>
            <a:xfrm>
              <a:off x="888600" y="1183850"/>
              <a:ext cx="3846600" cy="2388300"/>
            </a:xfrm>
            <a:prstGeom prst="roundRect">
              <a:avLst>
                <a:gd name="adj" fmla="val 577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0">
              <a:extLst>
                <a:ext uri="{FF2B5EF4-FFF2-40B4-BE49-F238E27FC236}">
                  <a16:creationId xmlns:a16="http://schemas.microsoft.com/office/drawing/2014/main" id="{48C1BED4-6B0D-BBE4-4E15-E16A2A7F008D}"/>
                </a:ext>
              </a:extLst>
            </p:cNvPr>
            <p:cNvSpPr/>
            <p:nvPr/>
          </p:nvSpPr>
          <p:spPr>
            <a:xfrm>
              <a:off x="2767438" y="3393401"/>
              <a:ext cx="88921" cy="77122"/>
            </a:xfrm>
            <a:custGeom>
              <a:avLst/>
              <a:gdLst/>
              <a:ahLst/>
              <a:cxnLst/>
              <a:rect l="l" t="t" r="r" b="b"/>
              <a:pathLst>
                <a:path w="10627" h="9100" extrusionOk="0">
                  <a:moveTo>
                    <a:pt x="6092" y="0"/>
                  </a:moveTo>
                  <a:cubicBezTo>
                    <a:pt x="2020" y="0"/>
                    <a:pt x="0" y="4900"/>
                    <a:pt x="2881" y="7747"/>
                  </a:cubicBezTo>
                  <a:cubicBezTo>
                    <a:pt x="3804" y="8681"/>
                    <a:pt x="4944" y="9100"/>
                    <a:pt x="6063" y="9100"/>
                  </a:cubicBezTo>
                  <a:cubicBezTo>
                    <a:pt x="8391" y="9100"/>
                    <a:pt x="10627" y="7286"/>
                    <a:pt x="10627" y="4536"/>
                  </a:cubicBezTo>
                  <a:cubicBezTo>
                    <a:pt x="10627" y="2020"/>
                    <a:pt x="8608" y="0"/>
                    <a:pt x="609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0">
              <a:extLst>
                <a:ext uri="{FF2B5EF4-FFF2-40B4-BE49-F238E27FC236}">
                  <a16:creationId xmlns:a16="http://schemas.microsoft.com/office/drawing/2014/main" id="{26B69B26-DC65-73F3-60CC-070D8BF8663B}"/>
                </a:ext>
              </a:extLst>
            </p:cNvPr>
            <p:cNvSpPr/>
            <p:nvPr/>
          </p:nvSpPr>
          <p:spPr>
            <a:xfrm>
              <a:off x="2133275" y="3569180"/>
              <a:ext cx="1391469" cy="390421"/>
            </a:xfrm>
            <a:custGeom>
              <a:avLst/>
              <a:gdLst/>
              <a:ahLst/>
              <a:cxnLst/>
              <a:rect l="l" t="t" r="r" b="b"/>
              <a:pathLst>
                <a:path w="94481" h="29125" extrusionOk="0">
                  <a:moveTo>
                    <a:pt x="79805" y="18317"/>
                  </a:moveTo>
                  <a:cubicBezTo>
                    <a:pt x="74117" y="12515"/>
                    <a:pt x="73889" y="1"/>
                    <a:pt x="73889" y="1"/>
                  </a:cubicBezTo>
                  <a:lnTo>
                    <a:pt x="20592" y="1"/>
                  </a:lnTo>
                  <a:cubicBezTo>
                    <a:pt x="20592" y="1"/>
                    <a:pt x="20364" y="12515"/>
                    <a:pt x="14676" y="18317"/>
                  </a:cubicBezTo>
                  <a:cubicBezTo>
                    <a:pt x="8931" y="24175"/>
                    <a:pt x="1" y="29124"/>
                    <a:pt x="15529" y="29124"/>
                  </a:cubicBezTo>
                  <a:lnTo>
                    <a:pt x="78952" y="29124"/>
                  </a:lnTo>
                  <a:cubicBezTo>
                    <a:pt x="94480" y="29124"/>
                    <a:pt x="85493" y="24175"/>
                    <a:pt x="79805" y="1831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7" name="Google Shape;447;p60">
            <a:extLst>
              <a:ext uri="{FF2B5EF4-FFF2-40B4-BE49-F238E27FC236}">
                <a16:creationId xmlns:a16="http://schemas.microsoft.com/office/drawing/2014/main" id="{B372D1C2-C3FF-8036-8136-C22474A57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4802" y="-287947"/>
            <a:ext cx="4384413" cy="137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SOFTWARE DEMO</a:t>
            </a:r>
            <a:endParaRPr b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A0BB16-8AEE-4DEB-C678-F0E5845450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54"/>
          <a:stretch>
            <a:fillRect/>
          </a:stretch>
        </p:blipFill>
        <p:spPr>
          <a:xfrm>
            <a:off x="1973277" y="1683795"/>
            <a:ext cx="5197446" cy="23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2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3E5804D6-822A-DDF8-4329-BB12608D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>
            <a:extLst>
              <a:ext uri="{FF2B5EF4-FFF2-40B4-BE49-F238E27FC236}">
                <a16:creationId xmlns:a16="http://schemas.microsoft.com/office/drawing/2014/main" id="{B4F20525-AE46-8554-76CB-224AEE026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Cybersecurity </a:t>
            </a:r>
            <a:endParaRPr dirty="0"/>
          </a:p>
        </p:txBody>
      </p:sp>
      <p:sp>
        <p:nvSpPr>
          <p:cNvPr id="251" name="Google Shape;251;p45">
            <a:extLst>
              <a:ext uri="{FF2B5EF4-FFF2-40B4-BE49-F238E27FC236}">
                <a16:creationId xmlns:a16="http://schemas.microsoft.com/office/drawing/2014/main" id="{C05CDF9D-9F77-F0B2-B3ED-0B10FC96024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5925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52" name="Google Shape;252;p45">
            <a:extLst>
              <a:ext uri="{FF2B5EF4-FFF2-40B4-BE49-F238E27FC236}">
                <a16:creationId xmlns:a16="http://schemas.microsoft.com/office/drawing/2014/main" id="{CCF1D43D-3757-AE98-990B-AD4615A6D2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650766" cy="423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RGPD &amp; AI Act (Protect the data)</a:t>
            </a:r>
            <a:endParaRPr dirty="0"/>
          </a:p>
        </p:txBody>
      </p:sp>
      <p:pic>
        <p:nvPicPr>
          <p:cNvPr id="253" name="Google Shape;253;p45">
            <a:extLst>
              <a:ext uri="{FF2B5EF4-FFF2-40B4-BE49-F238E27FC236}">
                <a16:creationId xmlns:a16="http://schemas.microsoft.com/office/drawing/2014/main" id="{685DE74B-55BB-DEE7-9737-4307430808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336" r="14343"/>
          <a:stretch/>
        </p:blipFill>
        <p:spPr>
          <a:xfrm>
            <a:off x="793150" y="348250"/>
            <a:ext cx="3023699" cy="4260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06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>
          <a:extLst>
            <a:ext uri="{FF2B5EF4-FFF2-40B4-BE49-F238E27FC236}">
              <a16:creationId xmlns:a16="http://schemas.microsoft.com/office/drawing/2014/main" id="{855D43EE-99AC-5AAD-E156-77E3EF22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>
            <a:extLst>
              <a:ext uri="{FF2B5EF4-FFF2-40B4-BE49-F238E27FC236}">
                <a16:creationId xmlns:a16="http://schemas.microsoft.com/office/drawing/2014/main" id="{B36F9717-3DDA-F964-86B1-77BE4C8652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44984" y="3844279"/>
            <a:ext cx="2469257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Deliberate exclusion of highly sensitive data (e.g gender) from the training phase to ensure neutrality</a:t>
            </a:r>
            <a:endParaRPr dirty="0"/>
          </a:p>
        </p:txBody>
      </p:sp>
      <p:sp>
        <p:nvSpPr>
          <p:cNvPr id="319" name="Google Shape;319;p50">
            <a:extLst>
              <a:ext uri="{FF2B5EF4-FFF2-40B4-BE49-F238E27FC236}">
                <a16:creationId xmlns:a16="http://schemas.microsoft.com/office/drawing/2014/main" id="{026C4519-EA88-3A9C-2289-B3A457B8222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424475" y="1860225"/>
            <a:ext cx="3191919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Complete removal of direct identifiers (e.g., employee numbers).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Anonymization of quasi-identifying data</a:t>
            </a:r>
            <a:endParaRPr dirty="0"/>
          </a:p>
        </p:txBody>
      </p:sp>
      <p:sp>
        <p:nvSpPr>
          <p:cNvPr id="320" name="Google Shape;320;p50">
            <a:extLst>
              <a:ext uri="{FF2B5EF4-FFF2-40B4-BE49-F238E27FC236}">
                <a16:creationId xmlns:a16="http://schemas.microsoft.com/office/drawing/2014/main" id="{5C7896EB-F88A-6F0A-C97D-FA3AC9059A5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445010" y="3479954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ETHICS</a:t>
            </a:r>
            <a:endParaRPr dirty="0"/>
          </a:p>
        </p:txBody>
      </p:sp>
      <p:sp>
        <p:nvSpPr>
          <p:cNvPr id="321" name="Google Shape;321;p50">
            <a:extLst>
              <a:ext uri="{FF2B5EF4-FFF2-40B4-BE49-F238E27FC236}">
                <a16:creationId xmlns:a16="http://schemas.microsoft.com/office/drawing/2014/main" id="{4CE9602C-8C53-B714-D91B-3C2459CF6AE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424476" y="1495900"/>
            <a:ext cx="3511374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STRICT ANONYMIZATION</a:t>
            </a:r>
            <a:endParaRPr dirty="0"/>
          </a:p>
        </p:txBody>
      </p:sp>
      <p:sp>
        <p:nvSpPr>
          <p:cNvPr id="322" name="Google Shape;322;p50">
            <a:extLst>
              <a:ext uri="{FF2B5EF4-FFF2-40B4-BE49-F238E27FC236}">
                <a16:creationId xmlns:a16="http://schemas.microsoft.com/office/drawing/2014/main" id="{EE02C090-C795-4348-5468-598E57DDE76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749387" y="1861786"/>
            <a:ext cx="2700679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Our AI has been classified as “High Risk” (HR category)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Guaranteed transparency and documented risk mapping</a:t>
            </a:r>
            <a:endParaRPr dirty="0"/>
          </a:p>
        </p:txBody>
      </p:sp>
      <p:sp>
        <p:nvSpPr>
          <p:cNvPr id="323" name="Google Shape;323;p50">
            <a:extLst>
              <a:ext uri="{FF2B5EF4-FFF2-40B4-BE49-F238E27FC236}">
                <a16:creationId xmlns:a16="http://schemas.microsoft.com/office/drawing/2014/main" id="{97F8A5FB-9766-F53F-03C4-E366CBBF7D8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749388" y="1492661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Act</a:t>
            </a:r>
            <a:endParaRPr dirty="0"/>
          </a:p>
        </p:txBody>
      </p:sp>
      <p:sp>
        <p:nvSpPr>
          <p:cNvPr id="324" name="Google Shape;324;p50">
            <a:extLst>
              <a:ext uri="{FF2B5EF4-FFF2-40B4-BE49-F238E27FC236}">
                <a16:creationId xmlns:a16="http://schemas.microsoft.com/office/drawing/2014/main" id="{76F5D7F4-ECAE-7FE5-87A3-AEBD015FBF2E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5577331" y="3814422"/>
            <a:ext cx="2600250" cy="7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100% on-</a:t>
            </a:r>
            <a:r>
              <a:rPr lang="fr-FR" dirty="0" err="1"/>
              <a:t>premises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and </a:t>
            </a:r>
            <a:r>
              <a:rPr lang="fr-FR" dirty="0" err="1"/>
              <a:t>recommendations</a:t>
            </a:r>
            <a:r>
              <a:rPr lang="fr-FR" dirty="0"/>
              <a:t> (no </a:t>
            </a:r>
            <a:r>
              <a:rPr lang="fr-FR" dirty="0" err="1"/>
              <a:t>external</a:t>
            </a:r>
            <a:r>
              <a:rPr lang="fr-FR" dirty="0"/>
              <a:t> cloud APIs)</a:t>
            </a:r>
            <a:endParaRPr dirty="0"/>
          </a:p>
        </p:txBody>
      </p:sp>
      <p:sp>
        <p:nvSpPr>
          <p:cNvPr id="325" name="Google Shape;325;p50">
            <a:extLst>
              <a:ext uri="{FF2B5EF4-FFF2-40B4-BE49-F238E27FC236}">
                <a16:creationId xmlns:a16="http://schemas.microsoft.com/office/drawing/2014/main" id="{E92BEDCB-E19F-6C68-5C85-0F8D685DC71D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577356" y="3445297"/>
            <a:ext cx="2187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SOVEREIGNTY</a:t>
            </a:r>
            <a:endParaRPr dirty="0"/>
          </a:p>
        </p:txBody>
      </p:sp>
      <p:sp>
        <p:nvSpPr>
          <p:cNvPr id="326" name="Google Shape;326;p50">
            <a:extLst>
              <a:ext uri="{FF2B5EF4-FFF2-40B4-BE49-F238E27FC236}">
                <a16:creationId xmlns:a16="http://schemas.microsoft.com/office/drawing/2014/main" id="{209B9033-43A4-0BE0-9777-6592E27F8B68}"/>
              </a:ext>
            </a:extLst>
          </p:cNvPr>
          <p:cNvSpPr/>
          <p:nvPr/>
        </p:nvSpPr>
        <p:spPr>
          <a:xfrm>
            <a:off x="490739" y="1712563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0">
            <a:extLst>
              <a:ext uri="{FF2B5EF4-FFF2-40B4-BE49-F238E27FC236}">
                <a16:creationId xmlns:a16="http://schemas.microsoft.com/office/drawing/2014/main" id="{2237319A-B5F0-E8A1-F3C7-52AEF51EEA3C}"/>
              </a:ext>
            </a:extLst>
          </p:cNvPr>
          <p:cNvSpPr/>
          <p:nvPr/>
        </p:nvSpPr>
        <p:spPr>
          <a:xfrm>
            <a:off x="4815651" y="1740299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50">
            <a:extLst>
              <a:ext uri="{FF2B5EF4-FFF2-40B4-BE49-F238E27FC236}">
                <a16:creationId xmlns:a16="http://schemas.microsoft.com/office/drawing/2014/main" id="{6DC7FBBC-89DC-1738-555E-B9CE585DEA39}"/>
              </a:ext>
            </a:extLst>
          </p:cNvPr>
          <p:cNvSpPr/>
          <p:nvPr/>
        </p:nvSpPr>
        <p:spPr>
          <a:xfrm>
            <a:off x="484048" y="3696617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50">
            <a:extLst>
              <a:ext uri="{FF2B5EF4-FFF2-40B4-BE49-F238E27FC236}">
                <a16:creationId xmlns:a16="http://schemas.microsoft.com/office/drawing/2014/main" id="{227214E7-765E-9840-297E-4EA74E4B0979}"/>
              </a:ext>
            </a:extLst>
          </p:cNvPr>
          <p:cNvSpPr/>
          <p:nvPr/>
        </p:nvSpPr>
        <p:spPr>
          <a:xfrm>
            <a:off x="4616394" y="3692935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50">
            <a:extLst>
              <a:ext uri="{FF2B5EF4-FFF2-40B4-BE49-F238E27FC236}">
                <a16:creationId xmlns:a16="http://schemas.microsoft.com/office/drawing/2014/main" id="{636BC3C2-A24B-7CF6-67FA-B107B801B8A9}"/>
              </a:ext>
            </a:extLst>
          </p:cNvPr>
          <p:cNvGrpSpPr/>
          <p:nvPr/>
        </p:nvGrpSpPr>
        <p:grpSpPr>
          <a:xfrm>
            <a:off x="4935850" y="1859995"/>
            <a:ext cx="499727" cy="500755"/>
            <a:chOff x="3095745" y="3805393"/>
            <a:chExt cx="352840" cy="354717"/>
          </a:xfrm>
        </p:grpSpPr>
        <p:sp>
          <p:nvSpPr>
            <p:cNvPr id="347" name="Google Shape;347;p50">
              <a:extLst>
                <a:ext uri="{FF2B5EF4-FFF2-40B4-BE49-F238E27FC236}">
                  <a16:creationId xmlns:a16="http://schemas.microsoft.com/office/drawing/2014/main" id="{392AF15D-7B55-D47E-FE08-CA174F32E164}"/>
                </a:ext>
              </a:extLst>
            </p:cNvPr>
            <p:cNvSpPr/>
            <p:nvPr/>
          </p:nvSpPr>
          <p:spPr>
            <a:xfrm>
              <a:off x="3095745" y="3805393"/>
              <a:ext cx="272093" cy="271711"/>
            </a:xfrm>
            <a:custGeom>
              <a:avLst/>
              <a:gdLst/>
              <a:ahLst/>
              <a:cxnLst/>
              <a:rect l="l" t="t" r="r" b="b"/>
              <a:pathLst>
                <a:path w="8549" h="8537" extrusionOk="0">
                  <a:moveTo>
                    <a:pt x="4025" y="0"/>
                  </a:moveTo>
                  <a:cubicBezTo>
                    <a:pt x="3763" y="0"/>
                    <a:pt x="3525" y="179"/>
                    <a:pt x="3489" y="441"/>
                  </a:cubicBezTo>
                  <a:lnTo>
                    <a:pt x="3322" y="1262"/>
                  </a:lnTo>
                  <a:cubicBezTo>
                    <a:pt x="3155" y="1322"/>
                    <a:pt x="2977" y="1381"/>
                    <a:pt x="2834" y="1465"/>
                  </a:cubicBezTo>
                  <a:lnTo>
                    <a:pt x="2132" y="1012"/>
                  </a:lnTo>
                  <a:cubicBezTo>
                    <a:pt x="2036" y="947"/>
                    <a:pt x="1929" y="915"/>
                    <a:pt x="1825" y="915"/>
                  </a:cubicBezTo>
                  <a:cubicBezTo>
                    <a:pt x="1683" y="915"/>
                    <a:pt x="1544" y="974"/>
                    <a:pt x="1441" y="1084"/>
                  </a:cubicBezTo>
                  <a:lnTo>
                    <a:pt x="1084" y="1441"/>
                  </a:lnTo>
                  <a:cubicBezTo>
                    <a:pt x="905" y="1619"/>
                    <a:pt x="881" y="1917"/>
                    <a:pt x="1012" y="2119"/>
                  </a:cubicBezTo>
                  <a:lnTo>
                    <a:pt x="1477" y="2822"/>
                  </a:lnTo>
                  <a:cubicBezTo>
                    <a:pt x="1381" y="2989"/>
                    <a:pt x="1322" y="3155"/>
                    <a:pt x="1262" y="3310"/>
                  </a:cubicBezTo>
                  <a:lnTo>
                    <a:pt x="453" y="3477"/>
                  </a:lnTo>
                  <a:cubicBezTo>
                    <a:pt x="191" y="3524"/>
                    <a:pt x="0" y="3763"/>
                    <a:pt x="0" y="4013"/>
                  </a:cubicBezTo>
                  <a:lnTo>
                    <a:pt x="0" y="4525"/>
                  </a:lnTo>
                  <a:cubicBezTo>
                    <a:pt x="0" y="4775"/>
                    <a:pt x="179" y="5013"/>
                    <a:pt x="453" y="5060"/>
                  </a:cubicBezTo>
                  <a:lnTo>
                    <a:pt x="1262" y="5215"/>
                  </a:lnTo>
                  <a:cubicBezTo>
                    <a:pt x="1322" y="5382"/>
                    <a:pt x="1381" y="5560"/>
                    <a:pt x="1477" y="5715"/>
                  </a:cubicBezTo>
                  <a:lnTo>
                    <a:pt x="1012" y="6406"/>
                  </a:lnTo>
                  <a:cubicBezTo>
                    <a:pt x="869" y="6632"/>
                    <a:pt x="893" y="6918"/>
                    <a:pt x="1084" y="7096"/>
                  </a:cubicBezTo>
                  <a:lnTo>
                    <a:pt x="1441" y="7453"/>
                  </a:lnTo>
                  <a:cubicBezTo>
                    <a:pt x="1544" y="7557"/>
                    <a:pt x="1687" y="7608"/>
                    <a:pt x="1830" y="7608"/>
                  </a:cubicBezTo>
                  <a:cubicBezTo>
                    <a:pt x="1935" y="7608"/>
                    <a:pt x="2041" y="7580"/>
                    <a:pt x="2132" y="7525"/>
                  </a:cubicBezTo>
                  <a:lnTo>
                    <a:pt x="2834" y="7061"/>
                  </a:lnTo>
                  <a:cubicBezTo>
                    <a:pt x="2989" y="7156"/>
                    <a:pt x="3155" y="7215"/>
                    <a:pt x="3322" y="7275"/>
                  </a:cubicBezTo>
                  <a:lnTo>
                    <a:pt x="3489" y="8096"/>
                  </a:lnTo>
                  <a:cubicBezTo>
                    <a:pt x="3525" y="8346"/>
                    <a:pt x="3763" y="8537"/>
                    <a:pt x="4025" y="8537"/>
                  </a:cubicBezTo>
                  <a:lnTo>
                    <a:pt x="4525" y="8537"/>
                  </a:lnTo>
                  <a:cubicBezTo>
                    <a:pt x="4775" y="8537"/>
                    <a:pt x="5013" y="8358"/>
                    <a:pt x="5060" y="8096"/>
                  </a:cubicBezTo>
                  <a:lnTo>
                    <a:pt x="5227" y="7275"/>
                  </a:lnTo>
                  <a:cubicBezTo>
                    <a:pt x="5358" y="7227"/>
                    <a:pt x="5489" y="7180"/>
                    <a:pt x="5632" y="7120"/>
                  </a:cubicBezTo>
                  <a:cubicBezTo>
                    <a:pt x="5692" y="7084"/>
                    <a:pt x="5727" y="6977"/>
                    <a:pt x="5692" y="6894"/>
                  </a:cubicBezTo>
                  <a:cubicBezTo>
                    <a:pt x="5655" y="6821"/>
                    <a:pt x="5584" y="6790"/>
                    <a:pt x="5515" y="6790"/>
                  </a:cubicBezTo>
                  <a:cubicBezTo>
                    <a:pt x="5494" y="6790"/>
                    <a:pt x="5473" y="6793"/>
                    <a:pt x="5453" y="6799"/>
                  </a:cubicBezTo>
                  <a:cubicBezTo>
                    <a:pt x="5299" y="6870"/>
                    <a:pt x="5156" y="6918"/>
                    <a:pt x="5001" y="6965"/>
                  </a:cubicBezTo>
                  <a:cubicBezTo>
                    <a:pt x="4941" y="6977"/>
                    <a:pt x="4882" y="7037"/>
                    <a:pt x="4882" y="7096"/>
                  </a:cubicBezTo>
                  <a:lnTo>
                    <a:pt x="4703" y="8025"/>
                  </a:lnTo>
                  <a:cubicBezTo>
                    <a:pt x="4691" y="8108"/>
                    <a:pt x="4596" y="8180"/>
                    <a:pt x="4513" y="8180"/>
                  </a:cubicBezTo>
                  <a:lnTo>
                    <a:pt x="4001" y="8180"/>
                  </a:lnTo>
                  <a:cubicBezTo>
                    <a:pt x="3917" y="8180"/>
                    <a:pt x="3822" y="8120"/>
                    <a:pt x="3810" y="8025"/>
                  </a:cubicBezTo>
                  <a:lnTo>
                    <a:pt x="3632" y="7096"/>
                  </a:lnTo>
                  <a:cubicBezTo>
                    <a:pt x="3620" y="7037"/>
                    <a:pt x="3572" y="6977"/>
                    <a:pt x="3513" y="6965"/>
                  </a:cubicBezTo>
                  <a:cubicBezTo>
                    <a:pt x="3310" y="6906"/>
                    <a:pt x="3096" y="6811"/>
                    <a:pt x="2905" y="6703"/>
                  </a:cubicBezTo>
                  <a:cubicBezTo>
                    <a:pt x="2876" y="6691"/>
                    <a:pt x="2843" y="6686"/>
                    <a:pt x="2812" y="6686"/>
                  </a:cubicBezTo>
                  <a:cubicBezTo>
                    <a:pt x="2780" y="6686"/>
                    <a:pt x="2751" y="6691"/>
                    <a:pt x="2727" y="6703"/>
                  </a:cubicBezTo>
                  <a:lnTo>
                    <a:pt x="1941" y="7227"/>
                  </a:lnTo>
                  <a:cubicBezTo>
                    <a:pt x="1904" y="7249"/>
                    <a:pt x="1864" y="7260"/>
                    <a:pt x="1824" y="7260"/>
                  </a:cubicBezTo>
                  <a:cubicBezTo>
                    <a:pt x="1774" y="7260"/>
                    <a:pt x="1725" y="7243"/>
                    <a:pt x="1679" y="7203"/>
                  </a:cubicBezTo>
                  <a:lnTo>
                    <a:pt x="1322" y="6846"/>
                  </a:lnTo>
                  <a:cubicBezTo>
                    <a:pt x="1262" y="6787"/>
                    <a:pt x="1250" y="6680"/>
                    <a:pt x="1298" y="6584"/>
                  </a:cubicBezTo>
                  <a:lnTo>
                    <a:pt x="1822" y="5799"/>
                  </a:lnTo>
                  <a:cubicBezTo>
                    <a:pt x="1846" y="5739"/>
                    <a:pt x="1858" y="5679"/>
                    <a:pt x="1822" y="5620"/>
                  </a:cubicBezTo>
                  <a:cubicBezTo>
                    <a:pt x="1715" y="5429"/>
                    <a:pt x="1620" y="5215"/>
                    <a:pt x="1560" y="5013"/>
                  </a:cubicBezTo>
                  <a:cubicBezTo>
                    <a:pt x="1548" y="4953"/>
                    <a:pt x="1489" y="4894"/>
                    <a:pt x="1429" y="4894"/>
                  </a:cubicBezTo>
                  <a:lnTo>
                    <a:pt x="512" y="4715"/>
                  </a:lnTo>
                  <a:cubicBezTo>
                    <a:pt x="417" y="4703"/>
                    <a:pt x="346" y="4608"/>
                    <a:pt x="346" y="4525"/>
                  </a:cubicBezTo>
                  <a:lnTo>
                    <a:pt x="346" y="4013"/>
                  </a:lnTo>
                  <a:cubicBezTo>
                    <a:pt x="346" y="3929"/>
                    <a:pt x="405" y="3834"/>
                    <a:pt x="512" y="3822"/>
                  </a:cubicBezTo>
                  <a:lnTo>
                    <a:pt x="1429" y="3643"/>
                  </a:lnTo>
                  <a:cubicBezTo>
                    <a:pt x="1489" y="3632"/>
                    <a:pt x="1548" y="3584"/>
                    <a:pt x="1560" y="3524"/>
                  </a:cubicBezTo>
                  <a:cubicBezTo>
                    <a:pt x="1620" y="3322"/>
                    <a:pt x="1715" y="3108"/>
                    <a:pt x="1822" y="2917"/>
                  </a:cubicBezTo>
                  <a:cubicBezTo>
                    <a:pt x="1846" y="2858"/>
                    <a:pt x="1846" y="2786"/>
                    <a:pt x="1822" y="2739"/>
                  </a:cubicBezTo>
                  <a:lnTo>
                    <a:pt x="1298" y="1941"/>
                  </a:lnTo>
                  <a:cubicBezTo>
                    <a:pt x="1250" y="1869"/>
                    <a:pt x="1250" y="1762"/>
                    <a:pt x="1322" y="1691"/>
                  </a:cubicBezTo>
                  <a:lnTo>
                    <a:pt x="1679" y="1334"/>
                  </a:lnTo>
                  <a:cubicBezTo>
                    <a:pt x="1714" y="1299"/>
                    <a:pt x="1765" y="1280"/>
                    <a:pt x="1820" y="1280"/>
                  </a:cubicBezTo>
                  <a:cubicBezTo>
                    <a:pt x="1859" y="1280"/>
                    <a:pt x="1901" y="1290"/>
                    <a:pt x="1941" y="1310"/>
                  </a:cubicBezTo>
                  <a:lnTo>
                    <a:pt x="2727" y="1822"/>
                  </a:lnTo>
                  <a:cubicBezTo>
                    <a:pt x="2759" y="1841"/>
                    <a:pt x="2791" y="1853"/>
                    <a:pt x="2822" y="1853"/>
                  </a:cubicBezTo>
                  <a:cubicBezTo>
                    <a:pt x="2850" y="1853"/>
                    <a:pt x="2878" y="1844"/>
                    <a:pt x="2905" y="1822"/>
                  </a:cubicBezTo>
                  <a:cubicBezTo>
                    <a:pt x="3096" y="1727"/>
                    <a:pt x="3310" y="1631"/>
                    <a:pt x="3513" y="1572"/>
                  </a:cubicBezTo>
                  <a:cubicBezTo>
                    <a:pt x="3572" y="1560"/>
                    <a:pt x="3632" y="1500"/>
                    <a:pt x="3632" y="1441"/>
                  </a:cubicBezTo>
                  <a:lnTo>
                    <a:pt x="3810" y="512"/>
                  </a:lnTo>
                  <a:cubicBezTo>
                    <a:pt x="3822" y="429"/>
                    <a:pt x="3917" y="357"/>
                    <a:pt x="4001" y="357"/>
                  </a:cubicBezTo>
                  <a:lnTo>
                    <a:pt x="4513" y="357"/>
                  </a:lnTo>
                  <a:cubicBezTo>
                    <a:pt x="4596" y="357"/>
                    <a:pt x="4691" y="417"/>
                    <a:pt x="4703" y="512"/>
                  </a:cubicBezTo>
                  <a:lnTo>
                    <a:pt x="4882" y="1441"/>
                  </a:lnTo>
                  <a:cubicBezTo>
                    <a:pt x="4894" y="1500"/>
                    <a:pt x="4941" y="1560"/>
                    <a:pt x="5001" y="1572"/>
                  </a:cubicBezTo>
                  <a:cubicBezTo>
                    <a:pt x="5215" y="1631"/>
                    <a:pt x="5418" y="1727"/>
                    <a:pt x="5608" y="1822"/>
                  </a:cubicBezTo>
                  <a:cubicBezTo>
                    <a:pt x="5638" y="1840"/>
                    <a:pt x="5674" y="1849"/>
                    <a:pt x="5706" y="1849"/>
                  </a:cubicBezTo>
                  <a:cubicBezTo>
                    <a:pt x="5739" y="1849"/>
                    <a:pt x="5769" y="1840"/>
                    <a:pt x="5787" y="1822"/>
                  </a:cubicBezTo>
                  <a:lnTo>
                    <a:pt x="6584" y="1310"/>
                  </a:lnTo>
                  <a:cubicBezTo>
                    <a:pt x="6617" y="1288"/>
                    <a:pt x="6656" y="1277"/>
                    <a:pt x="6696" y="1277"/>
                  </a:cubicBezTo>
                  <a:cubicBezTo>
                    <a:pt x="6745" y="1277"/>
                    <a:pt x="6795" y="1294"/>
                    <a:pt x="6835" y="1334"/>
                  </a:cubicBezTo>
                  <a:lnTo>
                    <a:pt x="7192" y="1691"/>
                  </a:lnTo>
                  <a:cubicBezTo>
                    <a:pt x="7251" y="1750"/>
                    <a:pt x="7263" y="1858"/>
                    <a:pt x="7216" y="1941"/>
                  </a:cubicBezTo>
                  <a:lnTo>
                    <a:pt x="6704" y="2739"/>
                  </a:lnTo>
                  <a:cubicBezTo>
                    <a:pt x="6668" y="2798"/>
                    <a:pt x="6656" y="2858"/>
                    <a:pt x="6704" y="2917"/>
                  </a:cubicBezTo>
                  <a:cubicBezTo>
                    <a:pt x="6799" y="3108"/>
                    <a:pt x="6894" y="3322"/>
                    <a:pt x="6954" y="3524"/>
                  </a:cubicBezTo>
                  <a:cubicBezTo>
                    <a:pt x="6965" y="3584"/>
                    <a:pt x="7025" y="3643"/>
                    <a:pt x="7085" y="3643"/>
                  </a:cubicBezTo>
                  <a:lnTo>
                    <a:pt x="8013" y="3822"/>
                  </a:lnTo>
                  <a:cubicBezTo>
                    <a:pt x="8097" y="3834"/>
                    <a:pt x="8168" y="3929"/>
                    <a:pt x="8168" y="4013"/>
                  </a:cubicBezTo>
                  <a:lnTo>
                    <a:pt x="8168" y="4525"/>
                  </a:lnTo>
                  <a:cubicBezTo>
                    <a:pt x="8168" y="4608"/>
                    <a:pt x="8108" y="4703"/>
                    <a:pt x="8013" y="4715"/>
                  </a:cubicBezTo>
                  <a:lnTo>
                    <a:pt x="7085" y="4894"/>
                  </a:lnTo>
                  <a:cubicBezTo>
                    <a:pt x="7025" y="4906"/>
                    <a:pt x="6965" y="4953"/>
                    <a:pt x="6954" y="5013"/>
                  </a:cubicBezTo>
                  <a:cubicBezTo>
                    <a:pt x="6906" y="5156"/>
                    <a:pt x="6846" y="5322"/>
                    <a:pt x="6787" y="5477"/>
                  </a:cubicBezTo>
                  <a:cubicBezTo>
                    <a:pt x="6739" y="5560"/>
                    <a:pt x="6787" y="5668"/>
                    <a:pt x="6882" y="5715"/>
                  </a:cubicBezTo>
                  <a:cubicBezTo>
                    <a:pt x="6903" y="5724"/>
                    <a:pt x="6926" y="5729"/>
                    <a:pt x="6949" y="5729"/>
                  </a:cubicBezTo>
                  <a:cubicBezTo>
                    <a:pt x="7016" y="5729"/>
                    <a:pt x="7085" y="5691"/>
                    <a:pt x="7120" y="5620"/>
                  </a:cubicBezTo>
                  <a:cubicBezTo>
                    <a:pt x="7180" y="5489"/>
                    <a:pt x="7239" y="5358"/>
                    <a:pt x="7275" y="5215"/>
                  </a:cubicBezTo>
                  <a:lnTo>
                    <a:pt x="8097" y="5060"/>
                  </a:lnTo>
                  <a:cubicBezTo>
                    <a:pt x="8347" y="5013"/>
                    <a:pt x="8549" y="4775"/>
                    <a:pt x="8549" y="4525"/>
                  </a:cubicBezTo>
                  <a:lnTo>
                    <a:pt x="8549" y="4013"/>
                  </a:lnTo>
                  <a:cubicBezTo>
                    <a:pt x="8549" y="3763"/>
                    <a:pt x="8370" y="3524"/>
                    <a:pt x="8097" y="3477"/>
                  </a:cubicBezTo>
                  <a:lnTo>
                    <a:pt x="7275" y="3310"/>
                  </a:lnTo>
                  <a:cubicBezTo>
                    <a:pt x="7216" y="3155"/>
                    <a:pt x="7156" y="2977"/>
                    <a:pt x="7073" y="2822"/>
                  </a:cubicBezTo>
                  <a:lnTo>
                    <a:pt x="7537" y="2119"/>
                  </a:lnTo>
                  <a:cubicBezTo>
                    <a:pt x="7680" y="1905"/>
                    <a:pt x="7656" y="1619"/>
                    <a:pt x="7454" y="1441"/>
                  </a:cubicBezTo>
                  <a:lnTo>
                    <a:pt x="7096" y="1084"/>
                  </a:lnTo>
                  <a:cubicBezTo>
                    <a:pt x="6992" y="980"/>
                    <a:pt x="6848" y="924"/>
                    <a:pt x="6705" y="924"/>
                  </a:cubicBezTo>
                  <a:cubicBezTo>
                    <a:pt x="6603" y="924"/>
                    <a:pt x="6502" y="953"/>
                    <a:pt x="6418" y="1012"/>
                  </a:cubicBezTo>
                  <a:lnTo>
                    <a:pt x="5715" y="1465"/>
                  </a:lnTo>
                  <a:cubicBezTo>
                    <a:pt x="5549" y="1381"/>
                    <a:pt x="5394" y="1322"/>
                    <a:pt x="5227" y="1262"/>
                  </a:cubicBezTo>
                  <a:lnTo>
                    <a:pt x="5060" y="441"/>
                  </a:lnTo>
                  <a:cubicBezTo>
                    <a:pt x="5013" y="191"/>
                    <a:pt x="4775" y="0"/>
                    <a:pt x="4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0">
              <a:extLst>
                <a:ext uri="{FF2B5EF4-FFF2-40B4-BE49-F238E27FC236}">
                  <a16:creationId xmlns:a16="http://schemas.microsoft.com/office/drawing/2014/main" id="{8C9F5524-2FE5-CB04-B0EE-62B855E8318D}"/>
                </a:ext>
              </a:extLst>
            </p:cNvPr>
            <p:cNvSpPr/>
            <p:nvPr/>
          </p:nvSpPr>
          <p:spPr>
            <a:xfrm>
              <a:off x="3184798" y="3878883"/>
              <a:ext cx="109550" cy="94018"/>
            </a:xfrm>
            <a:custGeom>
              <a:avLst/>
              <a:gdLst/>
              <a:ahLst/>
              <a:cxnLst/>
              <a:rect l="l" t="t" r="r" b="b"/>
              <a:pathLst>
                <a:path w="3442" h="2954" extrusionOk="0">
                  <a:moveTo>
                    <a:pt x="1465" y="1"/>
                  </a:moveTo>
                  <a:cubicBezTo>
                    <a:pt x="941" y="1"/>
                    <a:pt x="453" y="191"/>
                    <a:pt x="72" y="561"/>
                  </a:cubicBezTo>
                  <a:cubicBezTo>
                    <a:pt x="0" y="632"/>
                    <a:pt x="0" y="739"/>
                    <a:pt x="72" y="811"/>
                  </a:cubicBezTo>
                  <a:cubicBezTo>
                    <a:pt x="113" y="852"/>
                    <a:pt x="158" y="873"/>
                    <a:pt x="203" y="873"/>
                  </a:cubicBezTo>
                  <a:cubicBezTo>
                    <a:pt x="247" y="873"/>
                    <a:pt x="292" y="852"/>
                    <a:pt x="334" y="811"/>
                  </a:cubicBezTo>
                  <a:cubicBezTo>
                    <a:pt x="631" y="513"/>
                    <a:pt x="1024" y="358"/>
                    <a:pt x="1465" y="358"/>
                  </a:cubicBezTo>
                  <a:cubicBezTo>
                    <a:pt x="2358" y="358"/>
                    <a:pt x="3084" y="1084"/>
                    <a:pt x="3084" y="1977"/>
                  </a:cubicBezTo>
                  <a:cubicBezTo>
                    <a:pt x="3084" y="2227"/>
                    <a:pt x="3024" y="2477"/>
                    <a:pt x="2905" y="2716"/>
                  </a:cubicBezTo>
                  <a:cubicBezTo>
                    <a:pt x="2846" y="2799"/>
                    <a:pt x="2894" y="2894"/>
                    <a:pt x="2977" y="2942"/>
                  </a:cubicBezTo>
                  <a:cubicBezTo>
                    <a:pt x="3013" y="2954"/>
                    <a:pt x="3036" y="2954"/>
                    <a:pt x="3048" y="2954"/>
                  </a:cubicBezTo>
                  <a:cubicBezTo>
                    <a:pt x="3108" y="2954"/>
                    <a:pt x="3167" y="2930"/>
                    <a:pt x="3215" y="2870"/>
                  </a:cubicBezTo>
                  <a:cubicBezTo>
                    <a:pt x="3370" y="2585"/>
                    <a:pt x="3441" y="2287"/>
                    <a:pt x="3441" y="1977"/>
                  </a:cubicBezTo>
                  <a:cubicBezTo>
                    <a:pt x="3441" y="894"/>
                    <a:pt x="2560" y="1"/>
                    <a:pt x="14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0">
              <a:extLst>
                <a:ext uri="{FF2B5EF4-FFF2-40B4-BE49-F238E27FC236}">
                  <a16:creationId xmlns:a16="http://schemas.microsoft.com/office/drawing/2014/main" id="{04E590B7-1B02-2E94-B5E7-5B298C6F1518}"/>
                </a:ext>
              </a:extLst>
            </p:cNvPr>
            <p:cNvSpPr/>
            <p:nvPr/>
          </p:nvSpPr>
          <p:spPr>
            <a:xfrm>
              <a:off x="3168120" y="3917331"/>
              <a:ext cx="102707" cy="87016"/>
            </a:xfrm>
            <a:custGeom>
              <a:avLst/>
              <a:gdLst/>
              <a:ahLst/>
              <a:cxnLst/>
              <a:rect l="l" t="t" r="r" b="b"/>
              <a:pathLst>
                <a:path w="3227" h="2734" extrusionOk="0">
                  <a:moveTo>
                    <a:pt x="277" y="0"/>
                  </a:moveTo>
                  <a:cubicBezTo>
                    <a:pt x="203" y="0"/>
                    <a:pt x="136" y="38"/>
                    <a:pt x="108" y="115"/>
                  </a:cubicBezTo>
                  <a:cubicBezTo>
                    <a:pt x="36" y="317"/>
                    <a:pt x="0" y="531"/>
                    <a:pt x="0" y="758"/>
                  </a:cubicBezTo>
                  <a:cubicBezTo>
                    <a:pt x="0" y="1841"/>
                    <a:pt x="881" y="2734"/>
                    <a:pt x="1977" y="2734"/>
                  </a:cubicBezTo>
                  <a:cubicBezTo>
                    <a:pt x="2394" y="2734"/>
                    <a:pt x="2798" y="2603"/>
                    <a:pt x="3144" y="2365"/>
                  </a:cubicBezTo>
                  <a:cubicBezTo>
                    <a:pt x="3215" y="2305"/>
                    <a:pt x="3227" y="2198"/>
                    <a:pt x="3191" y="2127"/>
                  </a:cubicBezTo>
                  <a:cubicBezTo>
                    <a:pt x="3162" y="2075"/>
                    <a:pt x="3106" y="2051"/>
                    <a:pt x="3050" y="2051"/>
                  </a:cubicBezTo>
                  <a:cubicBezTo>
                    <a:pt x="3015" y="2051"/>
                    <a:pt x="2981" y="2061"/>
                    <a:pt x="2953" y="2079"/>
                  </a:cubicBezTo>
                  <a:cubicBezTo>
                    <a:pt x="2667" y="2282"/>
                    <a:pt x="2334" y="2389"/>
                    <a:pt x="2001" y="2389"/>
                  </a:cubicBezTo>
                  <a:cubicBezTo>
                    <a:pt x="1108" y="2389"/>
                    <a:pt x="370" y="1662"/>
                    <a:pt x="370" y="769"/>
                  </a:cubicBezTo>
                  <a:cubicBezTo>
                    <a:pt x="370" y="591"/>
                    <a:pt x="405" y="412"/>
                    <a:pt x="465" y="246"/>
                  </a:cubicBezTo>
                  <a:cubicBezTo>
                    <a:pt x="465" y="138"/>
                    <a:pt x="417" y="43"/>
                    <a:pt x="334" y="7"/>
                  </a:cubicBezTo>
                  <a:cubicBezTo>
                    <a:pt x="315" y="3"/>
                    <a:pt x="296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0">
              <a:extLst>
                <a:ext uri="{FF2B5EF4-FFF2-40B4-BE49-F238E27FC236}">
                  <a16:creationId xmlns:a16="http://schemas.microsoft.com/office/drawing/2014/main" id="{B2E14FA7-7977-5B41-8B4C-0C897C0B1264}"/>
                </a:ext>
              </a:extLst>
            </p:cNvPr>
            <p:cNvSpPr/>
            <p:nvPr/>
          </p:nvSpPr>
          <p:spPr>
            <a:xfrm>
              <a:off x="3264749" y="3976275"/>
              <a:ext cx="183836" cy="183836"/>
            </a:xfrm>
            <a:custGeom>
              <a:avLst/>
              <a:gdLst/>
              <a:ahLst/>
              <a:cxnLst/>
              <a:rect l="l" t="t" r="r" b="b"/>
              <a:pathLst>
                <a:path w="5776" h="5776" extrusionOk="0">
                  <a:moveTo>
                    <a:pt x="2739" y="1"/>
                  </a:moveTo>
                  <a:cubicBezTo>
                    <a:pt x="2548" y="1"/>
                    <a:pt x="2370" y="156"/>
                    <a:pt x="2322" y="346"/>
                  </a:cubicBezTo>
                  <a:lnTo>
                    <a:pt x="2215" y="846"/>
                  </a:lnTo>
                  <a:cubicBezTo>
                    <a:pt x="2132" y="882"/>
                    <a:pt x="2036" y="930"/>
                    <a:pt x="1953" y="953"/>
                  </a:cubicBezTo>
                  <a:lnTo>
                    <a:pt x="1525" y="668"/>
                  </a:lnTo>
                  <a:cubicBezTo>
                    <a:pt x="1454" y="627"/>
                    <a:pt x="1372" y="606"/>
                    <a:pt x="1291" y="606"/>
                  </a:cubicBezTo>
                  <a:cubicBezTo>
                    <a:pt x="1181" y="606"/>
                    <a:pt x="1071" y="645"/>
                    <a:pt x="989" y="727"/>
                  </a:cubicBezTo>
                  <a:lnTo>
                    <a:pt x="751" y="965"/>
                  </a:lnTo>
                  <a:cubicBezTo>
                    <a:pt x="620" y="1108"/>
                    <a:pt x="584" y="1322"/>
                    <a:pt x="691" y="1501"/>
                  </a:cubicBezTo>
                  <a:lnTo>
                    <a:pt x="977" y="1942"/>
                  </a:lnTo>
                  <a:cubicBezTo>
                    <a:pt x="917" y="2061"/>
                    <a:pt x="870" y="2180"/>
                    <a:pt x="822" y="2311"/>
                  </a:cubicBezTo>
                  <a:cubicBezTo>
                    <a:pt x="786" y="2394"/>
                    <a:pt x="858" y="2501"/>
                    <a:pt x="941" y="2537"/>
                  </a:cubicBezTo>
                  <a:cubicBezTo>
                    <a:pt x="954" y="2541"/>
                    <a:pt x="967" y="2542"/>
                    <a:pt x="980" y="2542"/>
                  </a:cubicBezTo>
                  <a:cubicBezTo>
                    <a:pt x="1055" y="2542"/>
                    <a:pt x="1137" y="2489"/>
                    <a:pt x="1167" y="2418"/>
                  </a:cubicBezTo>
                  <a:cubicBezTo>
                    <a:pt x="1203" y="2275"/>
                    <a:pt x="1251" y="2144"/>
                    <a:pt x="1322" y="2025"/>
                  </a:cubicBezTo>
                  <a:cubicBezTo>
                    <a:pt x="1358" y="1965"/>
                    <a:pt x="1358" y="1894"/>
                    <a:pt x="1322" y="1846"/>
                  </a:cubicBezTo>
                  <a:lnTo>
                    <a:pt x="989" y="1322"/>
                  </a:lnTo>
                  <a:cubicBezTo>
                    <a:pt x="977" y="1299"/>
                    <a:pt x="977" y="1263"/>
                    <a:pt x="1001" y="1239"/>
                  </a:cubicBezTo>
                  <a:lnTo>
                    <a:pt x="1239" y="1001"/>
                  </a:lnTo>
                  <a:cubicBezTo>
                    <a:pt x="1258" y="981"/>
                    <a:pt x="1274" y="973"/>
                    <a:pt x="1291" y="973"/>
                  </a:cubicBezTo>
                  <a:cubicBezTo>
                    <a:pt x="1304" y="973"/>
                    <a:pt x="1318" y="978"/>
                    <a:pt x="1334" y="989"/>
                  </a:cubicBezTo>
                  <a:lnTo>
                    <a:pt x="1846" y="1322"/>
                  </a:lnTo>
                  <a:cubicBezTo>
                    <a:pt x="1878" y="1342"/>
                    <a:pt x="1910" y="1354"/>
                    <a:pt x="1942" y="1354"/>
                  </a:cubicBezTo>
                  <a:cubicBezTo>
                    <a:pt x="1969" y="1354"/>
                    <a:pt x="1997" y="1345"/>
                    <a:pt x="2025" y="1322"/>
                  </a:cubicBezTo>
                  <a:cubicBezTo>
                    <a:pt x="2144" y="1251"/>
                    <a:pt x="2287" y="1203"/>
                    <a:pt x="2417" y="1156"/>
                  </a:cubicBezTo>
                  <a:cubicBezTo>
                    <a:pt x="2477" y="1144"/>
                    <a:pt x="2537" y="1084"/>
                    <a:pt x="2537" y="1025"/>
                  </a:cubicBezTo>
                  <a:lnTo>
                    <a:pt x="2656" y="418"/>
                  </a:lnTo>
                  <a:cubicBezTo>
                    <a:pt x="2656" y="382"/>
                    <a:pt x="2679" y="358"/>
                    <a:pt x="2727" y="358"/>
                  </a:cubicBezTo>
                  <a:lnTo>
                    <a:pt x="3060" y="358"/>
                  </a:lnTo>
                  <a:cubicBezTo>
                    <a:pt x="3084" y="358"/>
                    <a:pt x="3120" y="394"/>
                    <a:pt x="3132" y="418"/>
                  </a:cubicBezTo>
                  <a:lnTo>
                    <a:pt x="3251" y="1025"/>
                  </a:lnTo>
                  <a:cubicBezTo>
                    <a:pt x="3263" y="1084"/>
                    <a:pt x="3310" y="1144"/>
                    <a:pt x="3370" y="1156"/>
                  </a:cubicBezTo>
                  <a:cubicBezTo>
                    <a:pt x="3501" y="1203"/>
                    <a:pt x="3632" y="1251"/>
                    <a:pt x="3751" y="1322"/>
                  </a:cubicBezTo>
                  <a:cubicBezTo>
                    <a:pt x="3781" y="1340"/>
                    <a:pt x="3816" y="1349"/>
                    <a:pt x="3849" y="1349"/>
                  </a:cubicBezTo>
                  <a:cubicBezTo>
                    <a:pt x="3882" y="1349"/>
                    <a:pt x="3912" y="1340"/>
                    <a:pt x="3930" y="1322"/>
                  </a:cubicBezTo>
                  <a:lnTo>
                    <a:pt x="4453" y="989"/>
                  </a:lnTo>
                  <a:cubicBezTo>
                    <a:pt x="4469" y="978"/>
                    <a:pt x="4483" y="973"/>
                    <a:pt x="4497" y="973"/>
                  </a:cubicBezTo>
                  <a:cubicBezTo>
                    <a:pt x="4513" y="973"/>
                    <a:pt x="4529" y="981"/>
                    <a:pt x="4549" y="1001"/>
                  </a:cubicBezTo>
                  <a:lnTo>
                    <a:pt x="4787" y="1239"/>
                  </a:lnTo>
                  <a:cubicBezTo>
                    <a:pt x="4811" y="1263"/>
                    <a:pt x="4811" y="1299"/>
                    <a:pt x="4799" y="1322"/>
                  </a:cubicBezTo>
                  <a:lnTo>
                    <a:pt x="4453" y="1846"/>
                  </a:lnTo>
                  <a:cubicBezTo>
                    <a:pt x="4430" y="1906"/>
                    <a:pt x="4406" y="1965"/>
                    <a:pt x="4453" y="2025"/>
                  </a:cubicBezTo>
                  <a:cubicBezTo>
                    <a:pt x="4525" y="2144"/>
                    <a:pt x="4573" y="2275"/>
                    <a:pt x="4620" y="2418"/>
                  </a:cubicBezTo>
                  <a:cubicBezTo>
                    <a:pt x="4632" y="2477"/>
                    <a:pt x="4692" y="2537"/>
                    <a:pt x="4751" y="2537"/>
                  </a:cubicBezTo>
                  <a:lnTo>
                    <a:pt x="5358" y="2656"/>
                  </a:lnTo>
                  <a:cubicBezTo>
                    <a:pt x="5394" y="2656"/>
                    <a:pt x="5418" y="2680"/>
                    <a:pt x="5418" y="2727"/>
                  </a:cubicBezTo>
                  <a:lnTo>
                    <a:pt x="5418" y="3049"/>
                  </a:lnTo>
                  <a:cubicBezTo>
                    <a:pt x="5418" y="3085"/>
                    <a:pt x="5394" y="3108"/>
                    <a:pt x="5358" y="3132"/>
                  </a:cubicBezTo>
                  <a:lnTo>
                    <a:pt x="4751" y="3251"/>
                  </a:lnTo>
                  <a:cubicBezTo>
                    <a:pt x="4692" y="3263"/>
                    <a:pt x="4632" y="3311"/>
                    <a:pt x="4620" y="3370"/>
                  </a:cubicBezTo>
                  <a:cubicBezTo>
                    <a:pt x="4573" y="3501"/>
                    <a:pt x="4525" y="3632"/>
                    <a:pt x="4453" y="3751"/>
                  </a:cubicBezTo>
                  <a:cubicBezTo>
                    <a:pt x="4430" y="3811"/>
                    <a:pt x="4430" y="3882"/>
                    <a:pt x="4453" y="3930"/>
                  </a:cubicBezTo>
                  <a:lnTo>
                    <a:pt x="4799" y="4454"/>
                  </a:lnTo>
                  <a:cubicBezTo>
                    <a:pt x="4811" y="4478"/>
                    <a:pt x="4811" y="4513"/>
                    <a:pt x="4787" y="4537"/>
                  </a:cubicBezTo>
                  <a:lnTo>
                    <a:pt x="4549" y="4775"/>
                  </a:lnTo>
                  <a:cubicBezTo>
                    <a:pt x="4526" y="4798"/>
                    <a:pt x="4508" y="4806"/>
                    <a:pt x="4489" y="4806"/>
                  </a:cubicBezTo>
                  <a:cubicBezTo>
                    <a:pt x="4478" y="4806"/>
                    <a:pt x="4467" y="4803"/>
                    <a:pt x="4453" y="4799"/>
                  </a:cubicBezTo>
                  <a:lnTo>
                    <a:pt x="3930" y="4454"/>
                  </a:lnTo>
                  <a:cubicBezTo>
                    <a:pt x="3898" y="4435"/>
                    <a:pt x="3866" y="4422"/>
                    <a:pt x="3834" y="4422"/>
                  </a:cubicBezTo>
                  <a:cubicBezTo>
                    <a:pt x="3806" y="4422"/>
                    <a:pt x="3779" y="4432"/>
                    <a:pt x="3751" y="4454"/>
                  </a:cubicBezTo>
                  <a:cubicBezTo>
                    <a:pt x="3632" y="4525"/>
                    <a:pt x="3501" y="4573"/>
                    <a:pt x="3370" y="4621"/>
                  </a:cubicBezTo>
                  <a:cubicBezTo>
                    <a:pt x="3310" y="4632"/>
                    <a:pt x="3251" y="4692"/>
                    <a:pt x="3251" y="4751"/>
                  </a:cubicBezTo>
                  <a:lnTo>
                    <a:pt x="3132" y="5359"/>
                  </a:lnTo>
                  <a:cubicBezTo>
                    <a:pt x="3132" y="5394"/>
                    <a:pt x="3096" y="5418"/>
                    <a:pt x="3060" y="5418"/>
                  </a:cubicBezTo>
                  <a:lnTo>
                    <a:pt x="2727" y="5418"/>
                  </a:lnTo>
                  <a:cubicBezTo>
                    <a:pt x="2703" y="5418"/>
                    <a:pt x="2668" y="5394"/>
                    <a:pt x="2656" y="5359"/>
                  </a:cubicBezTo>
                  <a:lnTo>
                    <a:pt x="2537" y="4751"/>
                  </a:lnTo>
                  <a:cubicBezTo>
                    <a:pt x="2525" y="4692"/>
                    <a:pt x="2477" y="4632"/>
                    <a:pt x="2417" y="4621"/>
                  </a:cubicBezTo>
                  <a:cubicBezTo>
                    <a:pt x="2287" y="4573"/>
                    <a:pt x="2144" y="4525"/>
                    <a:pt x="2025" y="4454"/>
                  </a:cubicBezTo>
                  <a:cubicBezTo>
                    <a:pt x="1995" y="4436"/>
                    <a:pt x="1962" y="4427"/>
                    <a:pt x="1931" y="4427"/>
                  </a:cubicBezTo>
                  <a:cubicBezTo>
                    <a:pt x="1900" y="4427"/>
                    <a:pt x="1870" y="4436"/>
                    <a:pt x="1846" y="4454"/>
                  </a:cubicBezTo>
                  <a:lnTo>
                    <a:pt x="1334" y="4799"/>
                  </a:lnTo>
                  <a:cubicBezTo>
                    <a:pt x="1321" y="4803"/>
                    <a:pt x="1309" y="4806"/>
                    <a:pt x="1298" y="4806"/>
                  </a:cubicBezTo>
                  <a:cubicBezTo>
                    <a:pt x="1279" y="4806"/>
                    <a:pt x="1261" y="4798"/>
                    <a:pt x="1239" y="4775"/>
                  </a:cubicBezTo>
                  <a:lnTo>
                    <a:pt x="1001" y="4537"/>
                  </a:lnTo>
                  <a:cubicBezTo>
                    <a:pt x="977" y="4513"/>
                    <a:pt x="977" y="4478"/>
                    <a:pt x="989" y="4454"/>
                  </a:cubicBezTo>
                  <a:lnTo>
                    <a:pt x="1322" y="3930"/>
                  </a:lnTo>
                  <a:cubicBezTo>
                    <a:pt x="1358" y="3870"/>
                    <a:pt x="1370" y="3811"/>
                    <a:pt x="1322" y="3751"/>
                  </a:cubicBezTo>
                  <a:cubicBezTo>
                    <a:pt x="1251" y="3632"/>
                    <a:pt x="1215" y="3501"/>
                    <a:pt x="1167" y="3370"/>
                  </a:cubicBezTo>
                  <a:cubicBezTo>
                    <a:pt x="1144" y="3311"/>
                    <a:pt x="1084" y="3251"/>
                    <a:pt x="1024" y="3251"/>
                  </a:cubicBezTo>
                  <a:lnTo>
                    <a:pt x="417" y="3132"/>
                  </a:lnTo>
                  <a:cubicBezTo>
                    <a:pt x="393" y="3132"/>
                    <a:pt x="358" y="3097"/>
                    <a:pt x="358" y="3049"/>
                  </a:cubicBezTo>
                  <a:lnTo>
                    <a:pt x="358" y="2727"/>
                  </a:lnTo>
                  <a:cubicBezTo>
                    <a:pt x="358" y="2692"/>
                    <a:pt x="393" y="2668"/>
                    <a:pt x="417" y="2656"/>
                  </a:cubicBezTo>
                  <a:lnTo>
                    <a:pt x="465" y="2632"/>
                  </a:lnTo>
                  <a:cubicBezTo>
                    <a:pt x="548" y="2620"/>
                    <a:pt x="632" y="2525"/>
                    <a:pt x="596" y="2430"/>
                  </a:cubicBezTo>
                  <a:cubicBezTo>
                    <a:pt x="586" y="2352"/>
                    <a:pt x="520" y="2289"/>
                    <a:pt x="444" y="2289"/>
                  </a:cubicBezTo>
                  <a:cubicBezTo>
                    <a:pt x="428" y="2289"/>
                    <a:pt x="410" y="2292"/>
                    <a:pt x="393" y="2299"/>
                  </a:cubicBezTo>
                  <a:lnTo>
                    <a:pt x="346" y="2311"/>
                  </a:lnTo>
                  <a:cubicBezTo>
                    <a:pt x="155" y="2358"/>
                    <a:pt x="1" y="2513"/>
                    <a:pt x="1" y="2727"/>
                  </a:cubicBezTo>
                  <a:lnTo>
                    <a:pt x="1" y="3049"/>
                  </a:lnTo>
                  <a:cubicBezTo>
                    <a:pt x="1" y="3251"/>
                    <a:pt x="155" y="3430"/>
                    <a:pt x="346" y="3466"/>
                  </a:cubicBezTo>
                  <a:lnTo>
                    <a:pt x="846" y="3573"/>
                  </a:lnTo>
                  <a:cubicBezTo>
                    <a:pt x="882" y="3668"/>
                    <a:pt x="929" y="3751"/>
                    <a:pt x="953" y="3847"/>
                  </a:cubicBezTo>
                  <a:lnTo>
                    <a:pt x="679" y="4275"/>
                  </a:lnTo>
                  <a:cubicBezTo>
                    <a:pt x="572" y="4442"/>
                    <a:pt x="584" y="4656"/>
                    <a:pt x="727" y="4811"/>
                  </a:cubicBezTo>
                  <a:lnTo>
                    <a:pt x="977" y="5049"/>
                  </a:lnTo>
                  <a:cubicBezTo>
                    <a:pt x="1055" y="5127"/>
                    <a:pt x="1163" y="5172"/>
                    <a:pt x="1278" y="5172"/>
                  </a:cubicBezTo>
                  <a:cubicBezTo>
                    <a:pt x="1356" y="5172"/>
                    <a:pt x="1436" y="5152"/>
                    <a:pt x="1513" y="5109"/>
                  </a:cubicBezTo>
                  <a:lnTo>
                    <a:pt x="1941" y="4823"/>
                  </a:lnTo>
                  <a:cubicBezTo>
                    <a:pt x="2025" y="4871"/>
                    <a:pt x="2120" y="4894"/>
                    <a:pt x="2203" y="4930"/>
                  </a:cubicBezTo>
                  <a:lnTo>
                    <a:pt x="2310" y="5430"/>
                  </a:lnTo>
                  <a:cubicBezTo>
                    <a:pt x="2358" y="5633"/>
                    <a:pt x="2513" y="5775"/>
                    <a:pt x="2727" y="5775"/>
                  </a:cubicBezTo>
                  <a:lnTo>
                    <a:pt x="3060" y="5775"/>
                  </a:lnTo>
                  <a:cubicBezTo>
                    <a:pt x="3251" y="5775"/>
                    <a:pt x="3430" y="5633"/>
                    <a:pt x="3465" y="5430"/>
                  </a:cubicBezTo>
                  <a:lnTo>
                    <a:pt x="3572" y="4930"/>
                  </a:lnTo>
                  <a:cubicBezTo>
                    <a:pt x="3668" y="4894"/>
                    <a:pt x="3751" y="4859"/>
                    <a:pt x="3846" y="4823"/>
                  </a:cubicBezTo>
                  <a:lnTo>
                    <a:pt x="4275" y="5109"/>
                  </a:lnTo>
                  <a:cubicBezTo>
                    <a:pt x="4344" y="5153"/>
                    <a:pt x="4422" y="5175"/>
                    <a:pt x="4500" y="5175"/>
                  </a:cubicBezTo>
                  <a:cubicBezTo>
                    <a:pt x="4610" y="5175"/>
                    <a:pt x="4720" y="5132"/>
                    <a:pt x="4811" y="5049"/>
                  </a:cubicBezTo>
                  <a:lnTo>
                    <a:pt x="5049" y="4811"/>
                  </a:lnTo>
                  <a:cubicBezTo>
                    <a:pt x="5180" y="4680"/>
                    <a:pt x="5215" y="4454"/>
                    <a:pt x="5108" y="4275"/>
                  </a:cubicBezTo>
                  <a:lnTo>
                    <a:pt x="4823" y="3847"/>
                  </a:lnTo>
                  <a:cubicBezTo>
                    <a:pt x="4870" y="3751"/>
                    <a:pt x="4894" y="3668"/>
                    <a:pt x="4930" y="3573"/>
                  </a:cubicBezTo>
                  <a:lnTo>
                    <a:pt x="5442" y="3466"/>
                  </a:lnTo>
                  <a:cubicBezTo>
                    <a:pt x="5632" y="3430"/>
                    <a:pt x="5775" y="3263"/>
                    <a:pt x="5775" y="3049"/>
                  </a:cubicBezTo>
                  <a:lnTo>
                    <a:pt x="5775" y="2727"/>
                  </a:lnTo>
                  <a:cubicBezTo>
                    <a:pt x="5775" y="2513"/>
                    <a:pt x="5644" y="2358"/>
                    <a:pt x="5454" y="2311"/>
                  </a:cubicBezTo>
                  <a:lnTo>
                    <a:pt x="4942" y="2204"/>
                  </a:lnTo>
                  <a:cubicBezTo>
                    <a:pt x="4918" y="2120"/>
                    <a:pt x="4870" y="2025"/>
                    <a:pt x="4846" y="1942"/>
                  </a:cubicBezTo>
                  <a:lnTo>
                    <a:pt x="5120" y="1501"/>
                  </a:lnTo>
                  <a:cubicBezTo>
                    <a:pt x="5227" y="1346"/>
                    <a:pt x="5215" y="1120"/>
                    <a:pt x="5061" y="965"/>
                  </a:cubicBezTo>
                  <a:lnTo>
                    <a:pt x="4823" y="727"/>
                  </a:lnTo>
                  <a:cubicBezTo>
                    <a:pt x="4745" y="650"/>
                    <a:pt x="4634" y="610"/>
                    <a:pt x="4520" y="610"/>
                  </a:cubicBezTo>
                  <a:cubicBezTo>
                    <a:pt x="4441" y="610"/>
                    <a:pt x="4360" y="629"/>
                    <a:pt x="4287" y="668"/>
                  </a:cubicBezTo>
                  <a:lnTo>
                    <a:pt x="3858" y="953"/>
                  </a:lnTo>
                  <a:cubicBezTo>
                    <a:pt x="3763" y="906"/>
                    <a:pt x="3680" y="882"/>
                    <a:pt x="3596" y="846"/>
                  </a:cubicBezTo>
                  <a:lnTo>
                    <a:pt x="3489" y="346"/>
                  </a:lnTo>
                  <a:cubicBezTo>
                    <a:pt x="3441" y="156"/>
                    <a:pt x="3275" y="1"/>
                    <a:pt x="3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0">
              <a:extLst>
                <a:ext uri="{FF2B5EF4-FFF2-40B4-BE49-F238E27FC236}">
                  <a16:creationId xmlns:a16="http://schemas.microsoft.com/office/drawing/2014/main" id="{C147E14F-F3DC-DCD4-E55D-1C736C2DD35C}"/>
                </a:ext>
              </a:extLst>
            </p:cNvPr>
            <p:cNvSpPr/>
            <p:nvPr/>
          </p:nvSpPr>
          <p:spPr>
            <a:xfrm>
              <a:off x="3326526" y="4036907"/>
              <a:ext cx="62541" cy="62573"/>
            </a:xfrm>
            <a:custGeom>
              <a:avLst/>
              <a:gdLst/>
              <a:ahLst/>
              <a:cxnLst/>
              <a:rect l="l" t="t" r="r" b="b"/>
              <a:pathLst>
                <a:path w="1965" h="1966" extrusionOk="0">
                  <a:moveTo>
                    <a:pt x="977" y="1"/>
                  </a:moveTo>
                  <a:cubicBezTo>
                    <a:pt x="441" y="1"/>
                    <a:pt x="0" y="453"/>
                    <a:pt x="0" y="989"/>
                  </a:cubicBezTo>
                  <a:cubicBezTo>
                    <a:pt x="0" y="1525"/>
                    <a:pt x="441" y="1965"/>
                    <a:pt x="977" y="1965"/>
                  </a:cubicBezTo>
                  <a:cubicBezTo>
                    <a:pt x="1203" y="1965"/>
                    <a:pt x="1417" y="1894"/>
                    <a:pt x="1572" y="1763"/>
                  </a:cubicBezTo>
                  <a:cubicBezTo>
                    <a:pt x="1655" y="1703"/>
                    <a:pt x="1667" y="1596"/>
                    <a:pt x="1608" y="1501"/>
                  </a:cubicBezTo>
                  <a:cubicBezTo>
                    <a:pt x="1574" y="1461"/>
                    <a:pt x="1525" y="1439"/>
                    <a:pt x="1473" y="1439"/>
                  </a:cubicBezTo>
                  <a:cubicBezTo>
                    <a:pt x="1434" y="1439"/>
                    <a:pt x="1394" y="1452"/>
                    <a:pt x="1358" y="1477"/>
                  </a:cubicBezTo>
                  <a:cubicBezTo>
                    <a:pt x="1250" y="1561"/>
                    <a:pt x="1119" y="1608"/>
                    <a:pt x="965" y="1608"/>
                  </a:cubicBezTo>
                  <a:cubicBezTo>
                    <a:pt x="619" y="1608"/>
                    <a:pt x="346" y="1322"/>
                    <a:pt x="346" y="977"/>
                  </a:cubicBezTo>
                  <a:cubicBezTo>
                    <a:pt x="346" y="644"/>
                    <a:pt x="619" y="358"/>
                    <a:pt x="977" y="358"/>
                  </a:cubicBezTo>
                  <a:cubicBezTo>
                    <a:pt x="1322" y="358"/>
                    <a:pt x="1608" y="644"/>
                    <a:pt x="1608" y="989"/>
                  </a:cubicBezTo>
                  <a:cubicBezTo>
                    <a:pt x="1608" y="1084"/>
                    <a:pt x="1679" y="1168"/>
                    <a:pt x="1786" y="1168"/>
                  </a:cubicBezTo>
                  <a:cubicBezTo>
                    <a:pt x="1893" y="1168"/>
                    <a:pt x="1965" y="1084"/>
                    <a:pt x="1965" y="989"/>
                  </a:cubicBezTo>
                  <a:cubicBezTo>
                    <a:pt x="1965" y="453"/>
                    <a:pt x="1512" y="1"/>
                    <a:pt x="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0">
              <a:extLst>
                <a:ext uri="{FF2B5EF4-FFF2-40B4-BE49-F238E27FC236}">
                  <a16:creationId xmlns:a16="http://schemas.microsoft.com/office/drawing/2014/main" id="{B9F9F501-D9EE-672E-34E0-F1A6F80711ED}"/>
                </a:ext>
              </a:extLst>
            </p:cNvPr>
            <p:cNvSpPr/>
            <p:nvPr/>
          </p:nvSpPr>
          <p:spPr>
            <a:xfrm>
              <a:off x="3196542" y="3907687"/>
              <a:ext cx="68238" cy="68238"/>
            </a:xfrm>
            <a:custGeom>
              <a:avLst/>
              <a:gdLst/>
              <a:ahLst/>
              <a:cxnLst/>
              <a:rect l="l" t="t" r="r" b="b"/>
              <a:pathLst>
                <a:path w="2144" h="2144" extrusionOk="0">
                  <a:moveTo>
                    <a:pt x="1072" y="358"/>
                  </a:moveTo>
                  <a:cubicBezTo>
                    <a:pt x="1477" y="358"/>
                    <a:pt x="1786" y="680"/>
                    <a:pt x="1786" y="1072"/>
                  </a:cubicBezTo>
                  <a:cubicBezTo>
                    <a:pt x="1786" y="1477"/>
                    <a:pt x="1465" y="1787"/>
                    <a:pt x="1072" y="1787"/>
                  </a:cubicBezTo>
                  <a:cubicBezTo>
                    <a:pt x="691" y="1787"/>
                    <a:pt x="358" y="1453"/>
                    <a:pt x="358" y="1072"/>
                  </a:cubicBezTo>
                  <a:cubicBezTo>
                    <a:pt x="358" y="668"/>
                    <a:pt x="691" y="358"/>
                    <a:pt x="1072" y="358"/>
                  </a:cubicBezTo>
                  <a:close/>
                  <a:moveTo>
                    <a:pt x="1072" y="1"/>
                  </a:moveTo>
                  <a:cubicBezTo>
                    <a:pt x="477" y="1"/>
                    <a:pt x="0" y="477"/>
                    <a:pt x="0" y="1072"/>
                  </a:cubicBezTo>
                  <a:cubicBezTo>
                    <a:pt x="0" y="1668"/>
                    <a:pt x="477" y="2144"/>
                    <a:pt x="1072" y="2144"/>
                  </a:cubicBezTo>
                  <a:cubicBezTo>
                    <a:pt x="1667" y="2144"/>
                    <a:pt x="2144" y="1656"/>
                    <a:pt x="2144" y="1072"/>
                  </a:cubicBezTo>
                  <a:cubicBezTo>
                    <a:pt x="2144" y="477"/>
                    <a:pt x="166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3" name="Google Shape;353;p50">
            <a:extLst>
              <a:ext uri="{FF2B5EF4-FFF2-40B4-BE49-F238E27FC236}">
                <a16:creationId xmlns:a16="http://schemas.microsoft.com/office/drawing/2014/main" id="{AF57D9F1-2E2C-56BE-DC9C-D20AD05A7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CYBERSECURITY: </a:t>
            </a:r>
            <a:r>
              <a:rPr lang="en" dirty="0"/>
              <a:t>RGPD &amp; AI Act</a:t>
            </a:r>
            <a:endParaRPr dirty="0"/>
          </a:p>
        </p:txBody>
      </p:sp>
      <p:grpSp>
        <p:nvGrpSpPr>
          <p:cNvPr id="7" name="Google Shape;330;p50">
            <a:extLst>
              <a:ext uri="{FF2B5EF4-FFF2-40B4-BE49-F238E27FC236}">
                <a16:creationId xmlns:a16="http://schemas.microsoft.com/office/drawing/2014/main" id="{B9172FEF-DECA-1270-49F6-E0A99713D69C}"/>
              </a:ext>
            </a:extLst>
          </p:cNvPr>
          <p:cNvGrpSpPr/>
          <p:nvPr/>
        </p:nvGrpSpPr>
        <p:grpSpPr>
          <a:xfrm>
            <a:off x="4738474" y="3827823"/>
            <a:ext cx="495940" cy="494374"/>
            <a:chOff x="1308631" y="1507830"/>
            <a:chExt cx="350166" cy="350198"/>
          </a:xfrm>
        </p:grpSpPr>
        <p:sp>
          <p:nvSpPr>
            <p:cNvPr id="8" name="Google Shape;331;p50">
              <a:extLst>
                <a:ext uri="{FF2B5EF4-FFF2-40B4-BE49-F238E27FC236}">
                  <a16:creationId xmlns:a16="http://schemas.microsoft.com/office/drawing/2014/main" id="{1133F075-EAF5-F5BF-C55C-1F156BA6E536}"/>
                </a:ext>
              </a:extLst>
            </p:cNvPr>
            <p:cNvSpPr/>
            <p:nvPr/>
          </p:nvSpPr>
          <p:spPr>
            <a:xfrm>
              <a:off x="1308631" y="1507830"/>
              <a:ext cx="350166" cy="350198"/>
            </a:xfrm>
            <a:custGeom>
              <a:avLst/>
              <a:gdLst/>
              <a:ahLst/>
              <a:cxnLst/>
              <a:rect l="l" t="t" r="r" b="b"/>
              <a:pathLst>
                <a:path w="11002" h="11003" extrusionOk="0">
                  <a:moveTo>
                    <a:pt x="6192" y="310"/>
                  </a:moveTo>
                  <a:cubicBezTo>
                    <a:pt x="6192" y="310"/>
                    <a:pt x="6204" y="310"/>
                    <a:pt x="6204" y="334"/>
                  </a:cubicBezTo>
                  <a:lnTo>
                    <a:pt x="6204" y="787"/>
                  </a:lnTo>
                  <a:cubicBezTo>
                    <a:pt x="6204" y="953"/>
                    <a:pt x="6311" y="1084"/>
                    <a:pt x="6477" y="1120"/>
                  </a:cubicBezTo>
                  <a:cubicBezTo>
                    <a:pt x="6989" y="1239"/>
                    <a:pt x="7489" y="1429"/>
                    <a:pt x="7930" y="1715"/>
                  </a:cubicBezTo>
                  <a:cubicBezTo>
                    <a:pt x="7986" y="1751"/>
                    <a:pt x="8048" y="1769"/>
                    <a:pt x="8110" y="1769"/>
                  </a:cubicBezTo>
                  <a:cubicBezTo>
                    <a:pt x="8194" y="1769"/>
                    <a:pt x="8278" y="1736"/>
                    <a:pt x="8347" y="1668"/>
                  </a:cubicBezTo>
                  <a:lnTo>
                    <a:pt x="8680" y="1346"/>
                  </a:lnTo>
                  <a:lnTo>
                    <a:pt x="8692" y="1346"/>
                  </a:lnTo>
                  <a:lnTo>
                    <a:pt x="9656" y="2311"/>
                  </a:lnTo>
                  <a:lnTo>
                    <a:pt x="9656" y="2322"/>
                  </a:lnTo>
                  <a:lnTo>
                    <a:pt x="9335" y="2656"/>
                  </a:lnTo>
                  <a:cubicBezTo>
                    <a:pt x="9228" y="2751"/>
                    <a:pt x="9192" y="2930"/>
                    <a:pt x="9287" y="3073"/>
                  </a:cubicBezTo>
                  <a:cubicBezTo>
                    <a:pt x="9573" y="3513"/>
                    <a:pt x="9775" y="4001"/>
                    <a:pt x="9883" y="4525"/>
                  </a:cubicBezTo>
                  <a:cubicBezTo>
                    <a:pt x="9906" y="4680"/>
                    <a:pt x="10049" y="4799"/>
                    <a:pt x="10204" y="4799"/>
                  </a:cubicBezTo>
                  <a:lnTo>
                    <a:pt x="10668" y="4799"/>
                  </a:lnTo>
                  <a:cubicBezTo>
                    <a:pt x="10668" y="4799"/>
                    <a:pt x="10680" y="4799"/>
                    <a:pt x="10680" y="4811"/>
                  </a:cubicBezTo>
                  <a:lnTo>
                    <a:pt x="10657" y="6216"/>
                  </a:lnTo>
                  <a:lnTo>
                    <a:pt x="10192" y="6216"/>
                  </a:lnTo>
                  <a:cubicBezTo>
                    <a:pt x="10026" y="6216"/>
                    <a:pt x="9895" y="6311"/>
                    <a:pt x="9871" y="6478"/>
                  </a:cubicBezTo>
                  <a:cubicBezTo>
                    <a:pt x="9752" y="7002"/>
                    <a:pt x="9549" y="7490"/>
                    <a:pt x="9275" y="7942"/>
                  </a:cubicBezTo>
                  <a:cubicBezTo>
                    <a:pt x="9180" y="8073"/>
                    <a:pt x="9192" y="8240"/>
                    <a:pt x="9311" y="8359"/>
                  </a:cubicBezTo>
                  <a:lnTo>
                    <a:pt x="9645" y="8680"/>
                  </a:lnTo>
                  <a:lnTo>
                    <a:pt x="9645" y="8692"/>
                  </a:lnTo>
                  <a:lnTo>
                    <a:pt x="8680" y="9669"/>
                  </a:lnTo>
                  <a:lnTo>
                    <a:pt x="8656" y="9669"/>
                  </a:lnTo>
                  <a:lnTo>
                    <a:pt x="8335" y="9335"/>
                  </a:lnTo>
                  <a:cubicBezTo>
                    <a:pt x="8271" y="9272"/>
                    <a:pt x="8183" y="9237"/>
                    <a:pt x="8094" y="9237"/>
                  </a:cubicBezTo>
                  <a:cubicBezTo>
                    <a:pt x="8033" y="9237"/>
                    <a:pt x="7971" y="9254"/>
                    <a:pt x="7918" y="9288"/>
                  </a:cubicBezTo>
                  <a:cubicBezTo>
                    <a:pt x="7466" y="9573"/>
                    <a:pt x="6978" y="9788"/>
                    <a:pt x="6454" y="9883"/>
                  </a:cubicBezTo>
                  <a:cubicBezTo>
                    <a:pt x="6311" y="9919"/>
                    <a:pt x="6192" y="10050"/>
                    <a:pt x="6192" y="10216"/>
                  </a:cubicBezTo>
                  <a:lnTo>
                    <a:pt x="6192" y="10681"/>
                  </a:lnTo>
                  <a:cubicBezTo>
                    <a:pt x="6192" y="10681"/>
                    <a:pt x="6192" y="10693"/>
                    <a:pt x="6168" y="10693"/>
                  </a:cubicBezTo>
                  <a:lnTo>
                    <a:pt x="4811" y="10693"/>
                  </a:lnTo>
                  <a:cubicBezTo>
                    <a:pt x="4811" y="10693"/>
                    <a:pt x="4787" y="10693"/>
                    <a:pt x="4787" y="10681"/>
                  </a:cubicBezTo>
                  <a:lnTo>
                    <a:pt x="4787" y="10216"/>
                  </a:lnTo>
                  <a:cubicBezTo>
                    <a:pt x="4787" y="10050"/>
                    <a:pt x="4692" y="9919"/>
                    <a:pt x="4525" y="9883"/>
                  </a:cubicBezTo>
                  <a:cubicBezTo>
                    <a:pt x="4001" y="9764"/>
                    <a:pt x="3513" y="9573"/>
                    <a:pt x="3060" y="9288"/>
                  </a:cubicBezTo>
                  <a:cubicBezTo>
                    <a:pt x="3001" y="9264"/>
                    <a:pt x="2941" y="9228"/>
                    <a:pt x="2882" y="9228"/>
                  </a:cubicBezTo>
                  <a:cubicBezTo>
                    <a:pt x="2798" y="9228"/>
                    <a:pt x="2715" y="9264"/>
                    <a:pt x="2644" y="9335"/>
                  </a:cubicBezTo>
                  <a:lnTo>
                    <a:pt x="2322" y="9669"/>
                  </a:lnTo>
                  <a:lnTo>
                    <a:pt x="2298" y="9669"/>
                  </a:lnTo>
                  <a:lnTo>
                    <a:pt x="1334" y="8692"/>
                  </a:lnTo>
                  <a:lnTo>
                    <a:pt x="1334" y="8680"/>
                  </a:lnTo>
                  <a:lnTo>
                    <a:pt x="1667" y="8359"/>
                  </a:lnTo>
                  <a:cubicBezTo>
                    <a:pt x="1763" y="8252"/>
                    <a:pt x="1798" y="8073"/>
                    <a:pt x="1703" y="7942"/>
                  </a:cubicBezTo>
                  <a:cubicBezTo>
                    <a:pt x="1429" y="7490"/>
                    <a:pt x="1215" y="7002"/>
                    <a:pt x="1108" y="6478"/>
                  </a:cubicBezTo>
                  <a:cubicBezTo>
                    <a:pt x="1084" y="6335"/>
                    <a:pt x="953" y="6216"/>
                    <a:pt x="786" y="6216"/>
                  </a:cubicBezTo>
                  <a:lnTo>
                    <a:pt x="322" y="6216"/>
                  </a:lnTo>
                  <a:cubicBezTo>
                    <a:pt x="322" y="6216"/>
                    <a:pt x="310" y="6216"/>
                    <a:pt x="310" y="6192"/>
                  </a:cubicBezTo>
                  <a:lnTo>
                    <a:pt x="310" y="4811"/>
                  </a:lnTo>
                  <a:cubicBezTo>
                    <a:pt x="310" y="4811"/>
                    <a:pt x="310" y="4799"/>
                    <a:pt x="322" y="4799"/>
                  </a:cubicBezTo>
                  <a:lnTo>
                    <a:pt x="786" y="4799"/>
                  </a:lnTo>
                  <a:cubicBezTo>
                    <a:pt x="953" y="4799"/>
                    <a:pt x="1084" y="4692"/>
                    <a:pt x="1108" y="4525"/>
                  </a:cubicBezTo>
                  <a:cubicBezTo>
                    <a:pt x="1227" y="4001"/>
                    <a:pt x="1429" y="3513"/>
                    <a:pt x="1703" y="3073"/>
                  </a:cubicBezTo>
                  <a:cubicBezTo>
                    <a:pt x="1798" y="2930"/>
                    <a:pt x="1786" y="2775"/>
                    <a:pt x="1667" y="2656"/>
                  </a:cubicBezTo>
                  <a:lnTo>
                    <a:pt x="1334" y="2322"/>
                  </a:lnTo>
                  <a:lnTo>
                    <a:pt x="1334" y="2311"/>
                  </a:lnTo>
                  <a:lnTo>
                    <a:pt x="2298" y="1346"/>
                  </a:lnTo>
                  <a:lnTo>
                    <a:pt x="2322" y="1346"/>
                  </a:lnTo>
                  <a:lnTo>
                    <a:pt x="2644" y="1668"/>
                  </a:lnTo>
                  <a:cubicBezTo>
                    <a:pt x="2707" y="1731"/>
                    <a:pt x="2796" y="1765"/>
                    <a:pt x="2885" y="1765"/>
                  </a:cubicBezTo>
                  <a:cubicBezTo>
                    <a:pt x="2946" y="1765"/>
                    <a:pt x="3007" y="1749"/>
                    <a:pt x="3060" y="1715"/>
                  </a:cubicBezTo>
                  <a:cubicBezTo>
                    <a:pt x="3513" y="1429"/>
                    <a:pt x="4001" y="1227"/>
                    <a:pt x="4525" y="1120"/>
                  </a:cubicBezTo>
                  <a:cubicBezTo>
                    <a:pt x="4668" y="1084"/>
                    <a:pt x="4787" y="953"/>
                    <a:pt x="4787" y="787"/>
                  </a:cubicBezTo>
                  <a:lnTo>
                    <a:pt x="4787" y="334"/>
                  </a:lnTo>
                  <a:cubicBezTo>
                    <a:pt x="4787" y="334"/>
                    <a:pt x="4787" y="310"/>
                    <a:pt x="4811" y="310"/>
                  </a:cubicBezTo>
                  <a:close/>
                  <a:moveTo>
                    <a:pt x="4811" y="1"/>
                  </a:moveTo>
                  <a:cubicBezTo>
                    <a:pt x="4632" y="1"/>
                    <a:pt x="4477" y="156"/>
                    <a:pt x="4477" y="334"/>
                  </a:cubicBezTo>
                  <a:lnTo>
                    <a:pt x="4477" y="798"/>
                  </a:lnTo>
                  <a:cubicBezTo>
                    <a:pt x="4477" y="798"/>
                    <a:pt x="4477" y="810"/>
                    <a:pt x="4465" y="810"/>
                  </a:cubicBezTo>
                  <a:cubicBezTo>
                    <a:pt x="3918" y="929"/>
                    <a:pt x="3370" y="1156"/>
                    <a:pt x="2906" y="1453"/>
                  </a:cubicBezTo>
                  <a:lnTo>
                    <a:pt x="2882" y="1453"/>
                  </a:lnTo>
                  <a:lnTo>
                    <a:pt x="2560" y="1120"/>
                  </a:lnTo>
                  <a:cubicBezTo>
                    <a:pt x="2495" y="1054"/>
                    <a:pt x="2408" y="1022"/>
                    <a:pt x="2322" y="1022"/>
                  </a:cubicBezTo>
                  <a:cubicBezTo>
                    <a:pt x="2236" y="1022"/>
                    <a:pt x="2150" y="1054"/>
                    <a:pt x="2084" y="1120"/>
                  </a:cubicBezTo>
                  <a:lnTo>
                    <a:pt x="1120" y="2084"/>
                  </a:lnTo>
                  <a:cubicBezTo>
                    <a:pt x="977" y="2215"/>
                    <a:pt x="977" y="2430"/>
                    <a:pt x="1120" y="2561"/>
                  </a:cubicBezTo>
                  <a:lnTo>
                    <a:pt x="1441" y="2894"/>
                  </a:lnTo>
                  <a:lnTo>
                    <a:pt x="1441" y="2906"/>
                  </a:lnTo>
                  <a:cubicBezTo>
                    <a:pt x="1132" y="3382"/>
                    <a:pt x="917" y="3906"/>
                    <a:pt x="798" y="4466"/>
                  </a:cubicBezTo>
                  <a:cubicBezTo>
                    <a:pt x="798" y="4466"/>
                    <a:pt x="798" y="4489"/>
                    <a:pt x="786" y="4489"/>
                  </a:cubicBezTo>
                  <a:lnTo>
                    <a:pt x="322" y="4489"/>
                  </a:lnTo>
                  <a:cubicBezTo>
                    <a:pt x="143" y="4489"/>
                    <a:pt x="0" y="4632"/>
                    <a:pt x="0" y="4811"/>
                  </a:cubicBezTo>
                  <a:lnTo>
                    <a:pt x="0" y="6192"/>
                  </a:lnTo>
                  <a:cubicBezTo>
                    <a:pt x="0" y="6371"/>
                    <a:pt x="143" y="6525"/>
                    <a:pt x="322" y="6525"/>
                  </a:cubicBezTo>
                  <a:lnTo>
                    <a:pt x="786" y="6525"/>
                  </a:lnTo>
                  <a:cubicBezTo>
                    <a:pt x="786" y="6525"/>
                    <a:pt x="798" y="6525"/>
                    <a:pt x="798" y="6537"/>
                  </a:cubicBezTo>
                  <a:cubicBezTo>
                    <a:pt x="917" y="7085"/>
                    <a:pt x="1143" y="7621"/>
                    <a:pt x="1441" y="8097"/>
                  </a:cubicBezTo>
                  <a:lnTo>
                    <a:pt x="1441" y="8121"/>
                  </a:lnTo>
                  <a:lnTo>
                    <a:pt x="1120" y="8442"/>
                  </a:lnTo>
                  <a:cubicBezTo>
                    <a:pt x="977" y="8573"/>
                    <a:pt x="977" y="8788"/>
                    <a:pt x="1120" y="8918"/>
                  </a:cubicBezTo>
                  <a:lnTo>
                    <a:pt x="2084" y="9883"/>
                  </a:lnTo>
                  <a:cubicBezTo>
                    <a:pt x="2150" y="9954"/>
                    <a:pt x="2236" y="9990"/>
                    <a:pt x="2322" y="9990"/>
                  </a:cubicBezTo>
                  <a:cubicBezTo>
                    <a:pt x="2408" y="9990"/>
                    <a:pt x="2495" y="9954"/>
                    <a:pt x="2560" y="9883"/>
                  </a:cubicBezTo>
                  <a:lnTo>
                    <a:pt x="2882" y="9561"/>
                  </a:lnTo>
                  <a:lnTo>
                    <a:pt x="2906" y="9561"/>
                  </a:lnTo>
                  <a:cubicBezTo>
                    <a:pt x="3370" y="9871"/>
                    <a:pt x="3894" y="10085"/>
                    <a:pt x="4465" y="10204"/>
                  </a:cubicBezTo>
                  <a:cubicBezTo>
                    <a:pt x="4465" y="10204"/>
                    <a:pt x="4477" y="10204"/>
                    <a:pt x="4477" y="10216"/>
                  </a:cubicBezTo>
                  <a:lnTo>
                    <a:pt x="4477" y="10681"/>
                  </a:lnTo>
                  <a:cubicBezTo>
                    <a:pt x="4477" y="10859"/>
                    <a:pt x="4632" y="11002"/>
                    <a:pt x="4811" y="11002"/>
                  </a:cubicBezTo>
                  <a:lnTo>
                    <a:pt x="6192" y="11002"/>
                  </a:lnTo>
                  <a:cubicBezTo>
                    <a:pt x="6370" y="11002"/>
                    <a:pt x="6513" y="10859"/>
                    <a:pt x="6513" y="10681"/>
                  </a:cubicBezTo>
                  <a:lnTo>
                    <a:pt x="6513" y="10216"/>
                  </a:lnTo>
                  <a:cubicBezTo>
                    <a:pt x="6513" y="10216"/>
                    <a:pt x="6513" y="10204"/>
                    <a:pt x="6537" y="10204"/>
                  </a:cubicBezTo>
                  <a:cubicBezTo>
                    <a:pt x="7085" y="10085"/>
                    <a:pt x="7620" y="9859"/>
                    <a:pt x="8097" y="9561"/>
                  </a:cubicBezTo>
                  <a:lnTo>
                    <a:pt x="8109" y="9561"/>
                  </a:lnTo>
                  <a:lnTo>
                    <a:pt x="8442" y="9883"/>
                  </a:lnTo>
                  <a:cubicBezTo>
                    <a:pt x="8507" y="9954"/>
                    <a:pt x="8591" y="9990"/>
                    <a:pt x="8676" y="9990"/>
                  </a:cubicBezTo>
                  <a:cubicBezTo>
                    <a:pt x="8760" y="9990"/>
                    <a:pt x="8847" y="9954"/>
                    <a:pt x="8918" y="9883"/>
                  </a:cubicBezTo>
                  <a:lnTo>
                    <a:pt x="9883" y="8918"/>
                  </a:lnTo>
                  <a:cubicBezTo>
                    <a:pt x="10014" y="8788"/>
                    <a:pt x="10014" y="8573"/>
                    <a:pt x="9883" y="8442"/>
                  </a:cubicBezTo>
                  <a:lnTo>
                    <a:pt x="9549" y="8121"/>
                  </a:lnTo>
                  <a:lnTo>
                    <a:pt x="9549" y="8097"/>
                  </a:lnTo>
                  <a:cubicBezTo>
                    <a:pt x="9871" y="7621"/>
                    <a:pt x="10073" y="7109"/>
                    <a:pt x="10192" y="6537"/>
                  </a:cubicBezTo>
                  <a:cubicBezTo>
                    <a:pt x="10192" y="6537"/>
                    <a:pt x="10192" y="6525"/>
                    <a:pt x="10204" y="6525"/>
                  </a:cubicBezTo>
                  <a:lnTo>
                    <a:pt x="10668" y="6525"/>
                  </a:lnTo>
                  <a:cubicBezTo>
                    <a:pt x="10847" y="6525"/>
                    <a:pt x="11002" y="6371"/>
                    <a:pt x="11002" y="6192"/>
                  </a:cubicBezTo>
                  <a:lnTo>
                    <a:pt x="11002" y="4811"/>
                  </a:lnTo>
                  <a:cubicBezTo>
                    <a:pt x="10978" y="4632"/>
                    <a:pt x="10835" y="4489"/>
                    <a:pt x="10657" y="4489"/>
                  </a:cubicBezTo>
                  <a:lnTo>
                    <a:pt x="10192" y="4489"/>
                  </a:lnTo>
                  <a:cubicBezTo>
                    <a:pt x="10192" y="4489"/>
                    <a:pt x="10180" y="4489"/>
                    <a:pt x="10180" y="4466"/>
                  </a:cubicBezTo>
                  <a:cubicBezTo>
                    <a:pt x="10061" y="3918"/>
                    <a:pt x="9835" y="3382"/>
                    <a:pt x="9537" y="2906"/>
                  </a:cubicBezTo>
                  <a:lnTo>
                    <a:pt x="9537" y="2894"/>
                  </a:lnTo>
                  <a:lnTo>
                    <a:pt x="9859" y="2561"/>
                  </a:lnTo>
                  <a:cubicBezTo>
                    <a:pt x="10002" y="2430"/>
                    <a:pt x="10002" y="2215"/>
                    <a:pt x="9859" y="2084"/>
                  </a:cubicBezTo>
                  <a:lnTo>
                    <a:pt x="8894" y="1120"/>
                  </a:lnTo>
                  <a:cubicBezTo>
                    <a:pt x="8829" y="1054"/>
                    <a:pt x="8743" y="1022"/>
                    <a:pt x="8656" y="1022"/>
                  </a:cubicBezTo>
                  <a:cubicBezTo>
                    <a:pt x="8570" y="1022"/>
                    <a:pt x="8484" y="1054"/>
                    <a:pt x="8418" y="1120"/>
                  </a:cubicBezTo>
                  <a:lnTo>
                    <a:pt x="8097" y="1453"/>
                  </a:lnTo>
                  <a:lnTo>
                    <a:pt x="8073" y="1453"/>
                  </a:lnTo>
                  <a:cubicBezTo>
                    <a:pt x="7597" y="1132"/>
                    <a:pt x="7085" y="929"/>
                    <a:pt x="6513" y="810"/>
                  </a:cubicBezTo>
                  <a:cubicBezTo>
                    <a:pt x="6513" y="810"/>
                    <a:pt x="6501" y="810"/>
                    <a:pt x="6501" y="798"/>
                  </a:cubicBezTo>
                  <a:lnTo>
                    <a:pt x="6501" y="334"/>
                  </a:lnTo>
                  <a:cubicBezTo>
                    <a:pt x="6501" y="156"/>
                    <a:pt x="6346" y="1"/>
                    <a:pt x="61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32;p50">
              <a:extLst>
                <a:ext uri="{FF2B5EF4-FFF2-40B4-BE49-F238E27FC236}">
                  <a16:creationId xmlns:a16="http://schemas.microsoft.com/office/drawing/2014/main" id="{F9E59A4F-0165-9E77-7013-AB8011D7B0D5}"/>
                </a:ext>
              </a:extLst>
            </p:cNvPr>
            <p:cNvSpPr/>
            <p:nvPr/>
          </p:nvSpPr>
          <p:spPr>
            <a:xfrm>
              <a:off x="1373049" y="1574063"/>
              <a:ext cx="181544" cy="179730"/>
            </a:xfrm>
            <a:custGeom>
              <a:avLst/>
              <a:gdLst/>
              <a:ahLst/>
              <a:cxnLst/>
              <a:rect l="l" t="t" r="r" b="b"/>
              <a:pathLst>
                <a:path w="5704" h="5647" extrusionOk="0">
                  <a:moveTo>
                    <a:pt x="3449" y="0"/>
                  </a:moveTo>
                  <a:cubicBezTo>
                    <a:pt x="3399" y="0"/>
                    <a:pt x="3349" y="1"/>
                    <a:pt x="3299" y="3"/>
                  </a:cubicBezTo>
                  <a:cubicBezTo>
                    <a:pt x="2453" y="51"/>
                    <a:pt x="1644" y="408"/>
                    <a:pt x="1036" y="1003"/>
                  </a:cubicBezTo>
                  <a:cubicBezTo>
                    <a:pt x="429" y="1611"/>
                    <a:pt x="84" y="2396"/>
                    <a:pt x="48" y="3266"/>
                  </a:cubicBezTo>
                  <a:cubicBezTo>
                    <a:pt x="1" y="4111"/>
                    <a:pt x="262" y="4933"/>
                    <a:pt x="798" y="5587"/>
                  </a:cubicBezTo>
                  <a:cubicBezTo>
                    <a:pt x="834" y="5635"/>
                    <a:pt x="882" y="5647"/>
                    <a:pt x="917" y="5647"/>
                  </a:cubicBezTo>
                  <a:cubicBezTo>
                    <a:pt x="953" y="5647"/>
                    <a:pt x="1001" y="5635"/>
                    <a:pt x="1024" y="5623"/>
                  </a:cubicBezTo>
                  <a:cubicBezTo>
                    <a:pt x="1096" y="5564"/>
                    <a:pt x="1096" y="5456"/>
                    <a:pt x="1060" y="5397"/>
                  </a:cubicBezTo>
                  <a:cubicBezTo>
                    <a:pt x="584" y="4802"/>
                    <a:pt x="322" y="4051"/>
                    <a:pt x="370" y="3278"/>
                  </a:cubicBezTo>
                  <a:cubicBezTo>
                    <a:pt x="417" y="2504"/>
                    <a:pt x="727" y="1777"/>
                    <a:pt x="1274" y="1242"/>
                  </a:cubicBezTo>
                  <a:cubicBezTo>
                    <a:pt x="1834" y="694"/>
                    <a:pt x="2560" y="384"/>
                    <a:pt x="3322" y="337"/>
                  </a:cubicBezTo>
                  <a:cubicBezTo>
                    <a:pt x="3385" y="333"/>
                    <a:pt x="3447" y="331"/>
                    <a:pt x="3509" y="331"/>
                  </a:cubicBezTo>
                  <a:cubicBezTo>
                    <a:pt x="4215" y="331"/>
                    <a:pt x="4883" y="578"/>
                    <a:pt x="5430" y="1015"/>
                  </a:cubicBezTo>
                  <a:cubicBezTo>
                    <a:pt x="5461" y="1041"/>
                    <a:pt x="5496" y="1053"/>
                    <a:pt x="5531" y="1053"/>
                  </a:cubicBezTo>
                  <a:cubicBezTo>
                    <a:pt x="5577" y="1053"/>
                    <a:pt x="5622" y="1032"/>
                    <a:pt x="5656" y="992"/>
                  </a:cubicBezTo>
                  <a:cubicBezTo>
                    <a:pt x="5704" y="920"/>
                    <a:pt x="5680" y="813"/>
                    <a:pt x="5620" y="765"/>
                  </a:cubicBezTo>
                  <a:cubicBezTo>
                    <a:pt x="5005" y="262"/>
                    <a:pt x="4232" y="0"/>
                    <a:pt x="34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33;p50">
              <a:extLst>
                <a:ext uri="{FF2B5EF4-FFF2-40B4-BE49-F238E27FC236}">
                  <a16:creationId xmlns:a16="http://schemas.microsoft.com/office/drawing/2014/main" id="{76B659B1-ACD3-9EB6-4CEF-46B7D1123600}"/>
                </a:ext>
              </a:extLst>
            </p:cNvPr>
            <p:cNvSpPr/>
            <p:nvPr/>
          </p:nvSpPr>
          <p:spPr>
            <a:xfrm>
              <a:off x="1411338" y="1606368"/>
              <a:ext cx="182276" cy="186477"/>
            </a:xfrm>
            <a:custGeom>
              <a:avLst/>
              <a:gdLst/>
              <a:ahLst/>
              <a:cxnLst/>
              <a:rect l="l" t="t" r="r" b="b"/>
              <a:pathLst>
                <a:path w="5727" h="5859" extrusionOk="0">
                  <a:moveTo>
                    <a:pt x="3286" y="334"/>
                  </a:moveTo>
                  <a:lnTo>
                    <a:pt x="3286" y="1000"/>
                  </a:lnTo>
                  <a:cubicBezTo>
                    <a:pt x="3286" y="1108"/>
                    <a:pt x="3262" y="1227"/>
                    <a:pt x="3215" y="1310"/>
                  </a:cubicBezTo>
                  <a:lnTo>
                    <a:pt x="3143" y="1477"/>
                  </a:lnTo>
                  <a:cubicBezTo>
                    <a:pt x="3119" y="1501"/>
                    <a:pt x="3119" y="1524"/>
                    <a:pt x="3119" y="1548"/>
                  </a:cubicBezTo>
                  <a:lnTo>
                    <a:pt x="3119" y="1893"/>
                  </a:lnTo>
                  <a:cubicBezTo>
                    <a:pt x="3119" y="2132"/>
                    <a:pt x="3036" y="2358"/>
                    <a:pt x="2858" y="2524"/>
                  </a:cubicBezTo>
                  <a:cubicBezTo>
                    <a:pt x="2691" y="2679"/>
                    <a:pt x="2453" y="2775"/>
                    <a:pt x="2215" y="2775"/>
                  </a:cubicBezTo>
                  <a:cubicBezTo>
                    <a:pt x="1774" y="2763"/>
                    <a:pt x="1381" y="2346"/>
                    <a:pt x="1381" y="1846"/>
                  </a:cubicBezTo>
                  <a:lnTo>
                    <a:pt x="1381" y="1548"/>
                  </a:lnTo>
                  <a:cubicBezTo>
                    <a:pt x="1381" y="1524"/>
                    <a:pt x="1381" y="1501"/>
                    <a:pt x="1369" y="1477"/>
                  </a:cubicBezTo>
                  <a:lnTo>
                    <a:pt x="1262" y="1286"/>
                  </a:lnTo>
                  <a:cubicBezTo>
                    <a:pt x="1238" y="1203"/>
                    <a:pt x="1203" y="1131"/>
                    <a:pt x="1203" y="1048"/>
                  </a:cubicBezTo>
                  <a:lnTo>
                    <a:pt x="1203" y="1024"/>
                  </a:lnTo>
                  <a:cubicBezTo>
                    <a:pt x="1203" y="643"/>
                    <a:pt x="1524" y="334"/>
                    <a:pt x="1905" y="334"/>
                  </a:cubicBezTo>
                  <a:close/>
                  <a:moveTo>
                    <a:pt x="2608" y="3025"/>
                  </a:moveTo>
                  <a:cubicBezTo>
                    <a:pt x="2619" y="3084"/>
                    <a:pt x="2631" y="3132"/>
                    <a:pt x="2655" y="3179"/>
                  </a:cubicBezTo>
                  <a:lnTo>
                    <a:pt x="2512" y="3310"/>
                  </a:lnTo>
                  <a:cubicBezTo>
                    <a:pt x="2441" y="3382"/>
                    <a:pt x="2357" y="3417"/>
                    <a:pt x="2262" y="3417"/>
                  </a:cubicBezTo>
                  <a:cubicBezTo>
                    <a:pt x="2179" y="3417"/>
                    <a:pt x="2084" y="3382"/>
                    <a:pt x="2012" y="3310"/>
                  </a:cubicBezTo>
                  <a:lnTo>
                    <a:pt x="1881" y="3179"/>
                  </a:lnTo>
                  <a:cubicBezTo>
                    <a:pt x="1893" y="3132"/>
                    <a:pt x="1905" y="3084"/>
                    <a:pt x="1905" y="3025"/>
                  </a:cubicBezTo>
                  <a:cubicBezTo>
                    <a:pt x="2012" y="3060"/>
                    <a:pt x="2119" y="3084"/>
                    <a:pt x="2215" y="3084"/>
                  </a:cubicBezTo>
                  <a:lnTo>
                    <a:pt x="2250" y="3084"/>
                  </a:lnTo>
                  <a:cubicBezTo>
                    <a:pt x="2369" y="3084"/>
                    <a:pt x="2488" y="3072"/>
                    <a:pt x="2608" y="3025"/>
                  </a:cubicBezTo>
                  <a:close/>
                  <a:moveTo>
                    <a:pt x="2810" y="3441"/>
                  </a:moveTo>
                  <a:cubicBezTo>
                    <a:pt x="2858" y="3477"/>
                    <a:pt x="2905" y="3489"/>
                    <a:pt x="2941" y="3501"/>
                  </a:cubicBezTo>
                  <a:lnTo>
                    <a:pt x="3524" y="3667"/>
                  </a:lnTo>
                  <a:cubicBezTo>
                    <a:pt x="3679" y="3715"/>
                    <a:pt x="3774" y="3846"/>
                    <a:pt x="3774" y="4013"/>
                  </a:cubicBezTo>
                  <a:lnTo>
                    <a:pt x="3774" y="5108"/>
                  </a:lnTo>
                  <a:lnTo>
                    <a:pt x="3822" y="5108"/>
                  </a:lnTo>
                  <a:cubicBezTo>
                    <a:pt x="3703" y="5180"/>
                    <a:pt x="3584" y="5239"/>
                    <a:pt x="3453" y="5287"/>
                  </a:cubicBezTo>
                  <a:lnTo>
                    <a:pt x="3453" y="4310"/>
                  </a:lnTo>
                  <a:cubicBezTo>
                    <a:pt x="3453" y="4215"/>
                    <a:pt x="3381" y="4144"/>
                    <a:pt x="3286" y="4144"/>
                  </a:cubicBezTo>
                  <a:cubicBezTo>
                    <a:pt x="3203" y="4144"/>
                    <a:pt x="3119" y="4215"/>
                    <a:pt x="3119" y="4310"/>
                  </a:cubicBezTo>
                  <a:lnTo>
                    <a:pt x="3119" y="5394"/>
                  </a:lnTo>
                  <a:cubicBezTo>
                    <a:pt x="2881" y="5465"/>
                    <a:pt x="2655" y="5501"/>
                    <a:pt x="2405" y="5513"/>
                  </a:cubicBezTo>
                  <a:lnTo>
                    <a:pt x="2262" y="5513"/>
                  </a:lnTo>
                  <a:cubicBezTo>
                    <a:pt x="1965" y="5513"/>
                    <a:pt x="1667" y="5465"/>
                    <a:pt x="1381" y="5394"/>
                  </a:cubicBezTo>
                  <a:lnTo>
                    <a:pt x="1381" y="4310"/>
                  </a:lnTo>
                  <a:cubicBezTo>
                    <a:pt x="1381" y="4215"/>
                    <a:pt x="1310" y="4144"/>
                    <a:pt x="1214" y="4144"/>
                  </a:cubicBezTo>
                  <a:cubicBezTo>
                    <a:pt x="1131" y="4144"/>
                    <a:pt x="1060" y="4215"/>
                    <a:pt x="1060" y="4310"/>
                  </a:cubicBezTo>
                  <a:lnTo>
                    <a:pt x="1060" y="5287"/>
                  </a:lnTo>
                  <a:cubicBezTo>
                    <a:pt x="941" y="5227"/>
                    <a:pt x="798" y="5168"/>
                    <a:pt x="679" y="5108"/>
                  </a:cubicBezTo>
                  <a:lnTo>
                    <a:pt x="679" y="4013"/>
                  </a:lnTo>
                  <a:cubicBezTo>
                    <a:pt x="679" y="3846"/>
                    <a:pt x="786" y="3715"/>
                    <a:pt x="941" y="3667"/>
                  </a:cubicBezTo>
                  <a:lnTo>
                    <a:pt x="1512" y="3501"/>
                  </a:lnTo>
                  <a:cubicBezTo>
                    <a:pt x="1560" y="3489"/>
                    <a:pt x="1619" y="3477"/>
                    <a:pt x="1655" y="3441"/>
                  </a:cubicBezTo>
                  <a:lnTo>
                    <a:pt x="1750" y="3548"/>
                  </a:lnTo>
                  <a:cubicBezTo>
                    <a:pt x="1893" y="3679"/>
                    <a:pt x="2072" y="3739"/>
                    <a:pt x="2227" y="3739"/>
                  </a:cubicBezTo>
                  <a:cubicBezTo>
                    <a:pt x="2393" y="3739"/>
                    <a:pt x="2572" y="3679"/>
                    <a:pt x="2703" y="3548"/>
                  </a:cubicBezTo>
                  <a:lnTo>
                    <a:pt x="2810" y="3441"/>
                  </a:lnTo>
                  <a:close/>
                  <a:moveTo>
                    <a:pt x="1893" y="0"/>
                  </a:moveTo>
                  <a:cubicBezTo>
                    <a:pt x="1322" y="0"/>
                    <a:pt x="869" y="465"/>
                    <a:pt x="869" y="1024"/>
                  </a:cubicBezTo>
                  <a:lnTo>
                    <a:pt x="869" y="1048"/>
                  </a:lnTo>
                  <a:cubicBezTo>
                    <a:pt x="869" y="1179"/>
                    <a:pt x="893" y="1310"/>
                    <a:pt x="953" y="1429"/>
                  </a:cubicBezTo>
                  <a:lnTo>
                    <a:pt x="1048" y="1596"/>
                  </a:lnTo>
                  <a:lnTo>
                    <a:pt x="1048" y="1870"/>
                  </a:lnTo>
                  <a:cubicBezTo>
                    <a:pt x="1048" y="2286"/>
                    <a:pt x="1250" y="2655"/>
                    <a:pt x="1560" y="2882"/>
                  </a:cubicBezTo>
                  <a:lnTo>
                    <a:pt x="1560" y="3025"/>
                  </a:lnTo>
                  <a:cubicBezTo>
                    <a:pt x="1560" y="3096"/>
                    <a:pt x="1500" y="3179"/>
                    <a:pt x="1429" y="3203"/>
                  </a:cubicBezTo>
                  <a:lnTo>
                    <a:pt x="845" y="3370"/>
                  </a:lnTo>
                  <a:cubicBezTo>
                    <a:pt x="572" y="3453"/>
                    <a:pt x="357" y="3727"/>
                    <a:pt x="357" y="4025"/>
                  </a:cubicBezTo>
                  <a:lnTo>
                    <a:pt x="357" y="4906"/>
                  </a:lnTo>
                  <a:cubicBezTo>
                    <a:pt x="333" y="4882"/>
                    <a:pt x="310" y="4858"/>
                    <a:pt x="286" y="4846"/>
                  </a:cubicBezTo>
                  <a:cubicBezTo>
                    <a:pt x="255" y="4820"/>
                    <a:pt x="220" y="4808"/>
                    <a:pt x="185" y="4808"/>
                  </a:cubicBezTo>
                  <a:cubicBezTo>
                    <a:pt x="139" y="4808"/>
                    <a:pt x="93" y="4829"/>
                    <a:pt x="60" y="4870"/>
                  </a:cubicBezTo>
                  <a:cubicBezTo>
                    <a:pt x="0" y="4941"/>
                    <a:pt x="12" y="5037"/>
                    <a:pt x="95" y="5096"/>
                  </a:cubicBezTo>
                  <a:cubicBezTo>
                    <a:pt x="703" y="5584"/>
                    <a:pt x="1465" y="5858"/>
                    <a:pt x="2250" y="5858"/>
                  </a:cubicBezTo>
                  <a:lnTo>
                    <a:pt x="2417" y="5858"/>
                  </a:lnTo>
                  <a:cubicBezTo>
                    <a:pt x="3262" y="5811"/>
                    <a:pt x="4060" y="5453"/>
                    <a:pt x="4679" y="4858"/>
                  </a:cubicBezTo>
                  <a:cubicBezTo>
                    <a:pt x="5286" y="4251"/>
                    <a:pt x="5632" y="3453"/>
                    <a:pt x="5667" y="2596"/>
                  </a:cubicBezTo>
                  <a:cubicBezTo>
                    <a:pt x="5727" y="1727"/>
                    <a:pt x="5465" y="905"/>
                    <a:pt x="4929" y="262"/>
                  </a:cubicBezTo>
                  <a:cubicBezTo>
                    <a:pt x="4895" y="215"/>
                    <a:pt x="4846" y="194"/>
                    <a:pt x="4799" y="194"/>
                  </a:cubicBezTo>
                  <a:cubicBezTo>
                    <a:pt x="4763" y="194"/>
                    <a:pt x="4729" y="206"/>
                    <a:pt x="4703" y="227"/>
                  </a:cubicBezTo>
                  <a:cubicBezTo>
                    <a:pt x="4632" y="286"/>
                    <a:pt x="4632" y="393"/>
                    <a:pt x="4679" y="453"/>
                  </a:cubicBezTo>
                  <a:cubicBezTo>
                    <a:pt x="5155" y="1048"/>
                    <a:pt x="5405" y="1786"/>
                    <a:pt x="5358" y="2560"/>
                  </a:cubicBezTo>
                  <a:cubicBezTo>
                    <a:pt x="5310" y="3334"/>
                    <a:pt x="5001" y="4072"/>
                    <a:pt x="4453" y="4608"/>
                  </a:cubicBezTo>
                  <a:cubicBezTo>
                    <a:pt x="4346" y="4703"/>
                    <a:pt x="4239" y="4799"/>
                    <a:pt x="4143" y="4882"/>
                  </a:cubicBezTo>
                  <a:lnTo>
                    <a:pt x="4143" y="4013"/>
                  </a:lnTo>
                  <a:cubicBezTo>
                    <a:pt x="4143" y="3715"/>
                    <a:pt x="3929" y="3441"/>
                    <a:pt x="3643" y="3358"/>
                  </a:cubicBezTo>
                  <a:lnTo>
                    <a:pt x="3072" y="3191"/>
                  </a:lnTo>
                  <a:cubicBezTo>
                    <a:pt x="2989" y="3156"/>
                    <a:pt x="2929" y="3096"/>
                    <a:pt x="2929" y="3013"/>
                  </a:cubicBezTo>
                  <a:lnTo>
                    <a:pt x="2929" y="2882"/>
                  </a:lnTo>
                  <a:cubicBezTo>
                    <a:pt x="2989" y="2834"/>
                    <a:pt x="3036" y="2798"/>
                    <a:pt x="3084" y="2763"/>
                  </a:cubicBezTo>
                  <a:cubicBezTo>
                    <a:pt x="3322" y="2536"/>
                    <a:pt x="3441" y="2227"/>
                    <a:pt x="3441" y="1893"/>
                  </a:cubicBezTo>
                  <a:lnTo>
                    <a:pt x="3441" y="1596"/>
                  </a:lnTo>
                  <a:lnTo>
                    <a:pt x="3500" y="1465"/>
                  </a:lnTo>
                  <a:cubicBezTo>
                    <a:pt x="3572" y="1334"/>
                    <a:pt x="3596" y="1167"/>
                    <a:pt x="3596" y="1000"/>
                  </a:cubicBezTo>
                  <a:lnTo>
                    <a:pt x="3596" y="167"/>
                  </a:lnTo>
                  <a:cubicBezTo>
                    <a:pt x="3596" y="72"/>
                    <a:pt x="3524" y="0"/>
                    <a:pt x="3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334;p50">
              <a:extLst>
                <a:ext uri="{FF2B5EF4-FFF2-40B4-BE49-F238E27FC236}">
                  <a16:creationId xmlns:a16="http://schemas.microsoft.com/office/drawing/2014/main" id="{CCA98D76-4F7F-D0F6-7075-F2D9556CE17C}"/>
                </a:ext>
              </a:extLst>
            </p:cNvPr>
            <p:cNvSpPr/>
            <p:nvPr/>
          </p:nvSpPr>
          <p:spPr>
            <a:xfrm>
              <a:off x="1461721" y="1634026"/>
              <a:ext cx="43986" cy="15564"/>
            </a:xfrm>
            <a:custGeom>
              <a:avLst/>
              <a:gdLst/>
              <a:ahLst/>
              <a:cxnLst/>
              <a:rect l="l" t="t" r="r" b="b"/>
              <a:pathLst>
                <a:path w="1382" h="489" extrusionOk="0">
                  <a:moveTo>
                    <a:pt x="155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58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5"/>
                  </a:cubicBezTo>
                  <a:cubicBezTo>
                    <a:pt x="1382" y="322"/>
                    <a:pt x="1346" y="239"/>
                    <a:pt x="1263" y="191"/>
                  </a:cubicBezTo>
                  <a:cubicBezTo>
                    <a:pt x="894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4575" tIns="64575" rIns="64575" bIns="64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9686;p90">
            <a:extLst>
              <a:ext uri="{FF2B5EF4-FFF2-40B4-BE49-F238E27FC236}">
                <a16:creationId xmlns:a16="http://schemas.microsoft.com/office/drawing/2014/main" id="{BF177A15-F423-CB2C-51BE-2FFDCA35E972}"/>
              </a:ext>
            </a:extLst>
          </p:cNvPr>
          <p:cNvSpPr/>
          <p:nvPr/>
        </p:nvSpPr>
        <p:spPr>
          <a:xfrm>
            <a:off x="595823" y="1877769"/>
            <a:ext cx="463402" cy="437393"/>
          </a:xfrm>
          <a:custGeom>
            <a:avLst/>
            <a:gdLst/>
            <a:ahLst/>
            <a:cxnLst/>
            <a:rect l="l" t="t" r="r" b="b"/>
            <a:pathLst>
              <a:path w="9943" h="10181" extrusionOk="0">
                <a:moveTo>
                  <a:pt x="7883" y="536"/>
                </a:moveTo>
                <a:lnTo>
                  <a:pt x="9264" y="1918"/>
                </a:lnTo>
                <a:lnTo>
                  <a:pt x="7883" y="1918"/>
                </a:lnTo>
                <a:lnTo>
                  <a:pt x="7883" y="536"/>
                </a:lnTo>
                <a:close/>
                <a:moveTo>
                  <a:pt x="6442" y="1537"/>
                </a:moveTo>
                <a:lnTo>
                  <a:pt x="7823" y="2918"/>
                </a:lnTo>
                <a:lnTo>
                  <a:pt x="6442" y="2918"/>
                </a:lnTo>
                <a:lnTo>
                  <a:pt x="6442" y="1537"/>
                </a:lnTo>
                <a:close/>
                <a:moveTo>
                  <a:pt x="2954" y="5323"/>
                </a:moveTo>
                <a:cubicBezTo>
                  <a:pt x="3489" y="5323"/>
                  <a:pt x="3918" y="5799"/>
                  <a:pt x="3918" y="6394"/>
                </a:cubicBezTo>
                <a:lnTo>
                  <a:pt x="3930" y="6478"/>
                </a:lnTo>
                <a:cubicBezTo>
                  <a:pt x="3906" y="6478"/>
                  <a:pt x="3906" y="6478"/>
                  <a:pt x="3894" y="6490"/>
                </a:cubicBezTo>
                <a:cubicBezTo>
                  <a:pt x="3585" y="6418"/>
                  <a:pt x="3489" y="5966"/>
                  <a:pt x="3489" y="5966"/>
                </a:cubicBezTo>
                <a:cubicBezTo>
                  <a:pt x="3477" y="5906"/>
                  <a:pt x="3430" y="5847"/>
                  <a:pt x="3358" y="5835"/>
                </a:cubicBezTo>
                <a:cubicBezTo>
                  <a:pt x="3348" y="5833"/>
                  <a:pt x="3338" y="5832"/>
                  <a:pt x="3328" y="5832"/>
                </a:cubicBezTo>
                <a:cubicBezTo>
                  <a:pt x="3276" y="5832"/>
                  <a:pt x="3221" y="5857"/>
                  <a:pt x="3192" y="5906"/>
                </a:cubicBezTo>
                <a:cubicBezTo>
                  <a:pt x="2823" y="6478"/>
                  <a:pt x="1989" y="6490"/>
                  <a:pt x="1977" y="6490"/>
                </a:cubicBezTo>
                <a:lnTo>
                  <a:pt x="1930" y="6490"/>
                </a:lnTo>
                <a:cubicBezTo>
                  <a:pt x="1918" y="6490"/>
                  <a:pt x="1894" y="6490"/>
                  <a:pt x="1894" y="6478"/>
                </a:cubicBezTo>
                <a:lnTo>
                  <a:pt x="1894" y="6394"/>
                </a:lnTo>
                <a:cubicBezTo>
                  <a:pt x="1894" y="5799"/>
                  <a:pt x="2334" y="5323"/>
                  <a:pt x="2870" y="5323"/>
                </a:cubicBezTo>
                <a:close/>
                <a:moveTo>
                  <a:pt x="1668" y="6906"/>
                </a:moveTo>
                <a:cubicBezTo>
                  <a:pt x="1680" y="6906"/>
                  <a:pt x="1692" y="6918"/>
                  <a:pt x="1703" y="6918"/>
                </a:cubicBezTo>
                <a:lnTo>
                  <a:pt x="1703" y="7097"/>
                </a:lnTo>
                <a:cubicBezTo>
                  <a:pt x="1727" y="7132"/>
                  <a:pt x="1727" y="7192"/>
                  <a:pt x="1727" y="7228"/>
                </a:cubicBezTo>
                <a:cubicBezTo>
                  <a:pt x="1644" y="7216"/>
                  <a:pt x="1584" y="7144"/>
                  <a:pt x="1584" y="7049"/>
                </a:cubicBezTo>
                <a:cubicBezTo>
                  <a:pt x="1584" y="6990"/>
                  <a:pt x="1620" y="6930"/>
                  <a:pt x="1668" y="6906"/>
                </a:cubicBezTo>
                <a:close/>
                <a:moveTo>
                  <a:pt x="4168" y="6894"/>
                </a:moveTo>
                <a:cubicBezTo>
                  <a:pt x="4204" y="6918"/>
                  <a:pt x="4239" y="6978"/>
                  <a:pt x="4239" y="7037"/>
                </a:cubicBezTo>
                <a:cubicBezTo>
                  <a:pt x="4228" y="7144"/>
                  <a:pt x="4180" y="7216"/>
                  <a:pt x="4109" y="7228"/>
                </a:cubicBezTo>
                <a:cubicBezTo>
                  <a:pt x="4109" y="7192"/>
                  <a:pt x="4120" y="7132"/>
                  <a:pt x="4120" y="7085"/>
                </a:cubicBezTo>
                <a:lnTo>
                  <a:pt x="4120" y="6906"/>
                </a:lnTo>
                <a:cubicBezTo>
                  <a:pt x="4132" y="6906"/>
                  <a:pt x="4144" y="6906"/>
                  <a:pt x="4168" y="6894"/>
                </a:cubicBezTo>
                <a:close/>
                <a:moveTo>
                  <a:pt x="3251" y="6311"/>
                </a:moveTo>
                <a:cubicBezTo>
                  <a:pt x="3347" y="6490"/>
                  <a:pt x="3513" y="6716"/>
                  <a:pt x="3775" y="6787"/>
                </a:cubicBezTo>
                <a:lnTo>
                  <a:pt x="3775" y="7085"/>
                </a:lnTo>
                <a:cubicBezTo>
                  <a:pt x="3775" y="7561"/>
                  <a:pt x="3430" y="7942"/>
                  <a:pt x="3001" y="7942"/>
                </a:cubicBezTo>
                <a:lnTo>
                  <a:pt x="2787" y="7942"/>
                </a:lnTo>
                <a:cubicBezTo>
                  <a:pt x="2358" y="7942"/>
                  <a:pt x="2013" y="7561"/>
                  <a:pt x="2013" y="7085"/>
                </a:cubicBezTo>
                <a:lnTo>
                  <a:pt x="2013" y="6799"/>
                </a:lnTo>
                <a:lnTo>
                  <a:pt x="2037" y="6799"/>
                </a:lnTo>
                <a:cubicBezTo>
                  <a:pt x="2227" y="6787"/>
                  <a:pt x="2835" y="6728"/>
                  <a:pt x="3251" y="6311"/>
                </a:cubicBezTo>
                <a:close/>
                <a:moveTo>
                  <a:pt x="3013" y="8240"/>
                </a:moveTo>
                <a:cubicBezTo>
                  <a:pt x="3061" y="8264"/>
                  <a:pt x="3108" y="8264"/>
                  <a:pt x="3156" y="8264"/>
                </a:cubicBezTo>
                <a:lnTo>
                  <a:pt x="3156" y="8418"/>
                </a:lnTo>
                <a:lnTo>
                  <a:pt x="2918" y="8656"/>
                </a:lnTo>
                <a:lnTo>
                  <a:pt x="2692" y="8442"/>
                </a:lnTo>
                <a:lnTo>
                  <a:pt x="2692" y="8240"/>
                </a:lnTo>
                <a:close/>
                <a:moveTo>
                  <a:pt x="7597" y="334"/>
                </a:moveTo>
                <a:lnTo>
                  <a:pt x="7597" y="2108"/>
                </a:lnTo>
                <a:cubicBezTo>
                  <a:pt x="7597" y="2203"/>
                  <a:pt x="7680" y="2275"/>
                  <a:pt x="7764" y="2275"/>
                </a:cubicBezTo>
                <a:lnTo>
                  <a:pt x="9538" y="2275"/>
                </a:lnTo>
                <a:lnTo>
                  <a:pt x="9538" y="8871"/>
                </a:lnTo>
                <a:lnTo>
                  <a:pt x="8359" y="8871"/>
                </a:lnTo>
                <a:lnTo>
                  <a:pt x="8359" y="3084"/>
                </a:lnTo>
                <a:lnTo>
                  <a:pt x="8359" y="3061"/>
                </a:lnTo>
                <a:lnTo>
                  <a:pt x="8359" y="3049"/>
                </a:lnTo>
                <a:cubicBezTo>
                  <a:pt x="8359" y="3049"/>
                  <a:pt x="8359" y="3037"/>
                  <a:pt x="8347" y="3037"/>
                </a:cubicBezTo>
                <a:cubicBezTo>
                  <a:pt x="8347" y="3037"/>
                  <a:pt x="8347" y="3013"/>
                  <a:pt x="8335" y="3013"/>
                </a:cubicBezTo>
                <a:lnTo>
                  <a:pt x="8311" y="3001"/>
                </a:lnTo>
                <a:lnTo>
                  <a:pt x="6383" y="1072"/>
                </a:lnTo>
                <a:lnTo>
                  <a:pt x="6371" y="1048"/>
                </a:lnTo>
                <a:lnTo>
                  <a:pt x="6347" y="1036"/>
                </a:lnTo>
                <a:cubicBezTo>
                  <a:pt x="6347" y="1036"/>
                  <a:pt x="6335" y="1036"/>
                  <a:pt x="6335" y="1025"/>
                </a:cubicBezTo>
                <a:lnTo>
                  <a:pt x="3882" y="1025"/>
                </a:lnTo>
                <a:lnTo>
                  <a:pt x="3882" y="334"/>
                </a:lnTo>
                <a:close/>
                <a:moveTo>
                  <a:pt x="6085" y="1334"/>
                </a:moveTo>
                <a:lnTo>
                  <a:pt x="6085" y="3108"/>
                </a:lnTo>
                <a:cubicBezTo>
                  <a:pt x="6085" y="3192"/>
                  <a:pt x="6156" y="3275"/>
                  <a:pt x="6240" y="3275"/>
                </a:cubicBezTo>
                <a:lnTo>
                  <a:pt x="8014" y="3275"/>
                </a:lnTo>
                <a:lnTo>
                  <a:pt x="8049" y="9883"/>
                </a:lnTo>
                <a:lnTo>
                  <a:pt x="4311" y="9883"/>
                </a:lnTo>
                <a:cubicBezTo>
                  <a:pt x="5192" y="9407"/>
                  <a:pt x="5811" y="8502"/>
                  <a:pt x="5871" y="7430"/>
                </a:cubicBezTo>
                <a:lnTo>
                  <a:pt x="5871" y="7406"/>
                </a:lnTo>
                <a:lnTo>
                  <a:pt x="5871" y="7347"/>
                </a:lnTo>
                <a:lnTo>
                  <a:pt x="5871" y="7323"/>
                </a:lnTo>
                <a:lnTo>
                  <a:pt x="5871" y="7311"/>
                </a:lnTo>
                <a:lnTo>
                  <a:pt x="5871" y="7263"/>
                </a:lnTo>
                <a:lnTo>
                  <a:pt x="5871" y="7228"/>
                </a:lnTo>
                <a:lnTo>
                  <a:pt x="5871" y="7216"/>
                </a:lnTo>
                <a:lnTo>
                  <a:pt x="5871" y="7168"/>
                </a:lnTo>
                <a:lnTo>
                  <a:pt x="5871" y="7144"/>
                </a:lnTo>
                <a:lnTo>
                  <a:pt x="5871" y="7121"/>
                </a:lnTo>
                <a:lnTo>
                  <a:pt x="5871" y="7085"/>
                </a:lnTo>
                <a:lnTo>
                  <a:pt x="5871" y="7049"/>
                </a:lnTo>
                <a:lnTo>
                  <a:pt x="5871" y="7002"/>
                </a:lnTo>
                <a:lnTo>
                  <a:pt x="5871" y="6978"/>
                </a:lnTo>
                <a:lnTo>
                  <a:pt x="5871" y="6930"/>
                </a:lnTo>
                <a:lnTo>
                  <a:pt x="5871" y="6906"/>
                </a:lnTo>
                <a:lnTo>
                  <a:pt x="5871" y="6859"/>
                </a:lnTo>
                <a:lnTo>
                  <a:pt x="5871" y="6847"/>
                </a:lnTo>
                <a:lnTo>
                  <a:pt x="5871" y="6823"/>
                </a:lnTo>
                <a:lnTo>
                  <a:pt x="5871" y="6787"/>
                </a:lnTo>
                <a:lnTo>
                  <a:pt x="5871" y="6751"/>
                </a:lnTo>
                <a:cubicBezTo>
                  <a:pt x="5871" y="6728"/>
                  <a:pt x="5859" y="6704"/>
                  <a:pt x="5859" y="6680"/>
                </a:cubicBezTo>
                <a:cubicBezTo>
                  <a:pt x="5859" y="6644"/>
                  <a:pt x="5847" y="6632"/>
                  <a:pt x="5847" y="6609"/>
                </a:cubicBezTo>
                <a:lnTo>
                  <a:pt x="5847" y="6573"/>
                </a:lnTo>
                <a:cubicBezTo>
                  <a:pt x="5847" y="6561"/>
                  <a:pt x="5835" y="6549"/>
                  <a:pt x="5835" y="6525"/>
                </a:cubicBezTo>
                <a:lnTo>
                  <a:pt x="5835" y="6513"/>
                </a:lnTo>
                <a:lnTo>
                  <a:pt x="5835" y="6501"/>
                </a:lnTo>
                <a:cubicBezTo>
                  <a:pt x="5835" y="6490"/>
                  <a:pt x="5811" y="6466"/>
                  <a:pt x="5811" y="6454"/>
                </a:cubicBezTo>
                <a:cubicBezTo>
                  <a:pt x="5811" y="6442"/>
                  <a:pt x="5811" y="6442"/>
                  <a:pt x="5799" y="6430"/>
                </a:cubicBezTo>
                <a:cubicBezTo>
                  <a:pt x="5799" y="6406"/>
                  <a:pt x="5787" y="6394"/>
                  <a:pt x="5787" y="6382"/>
                </a:cubicBezTo>
                <a:lnTo>
                  <a:pt x="5775" y="6347"/>
                </a:lnTo>
                <a:cubicBezTo>
                  <a:pt x="5775" y="6335"/>
                  <a:pt x="5752" y="6323"/>
                  <a:pt x="5752" y="6311"/>
                </a:cubicBezTo>
                <a:cubicBezTo>
                  <a:pt x="5752" y="6287"/>
                  <a:pt x="5752" y="6287"/>
                  <a:pt x="5740" y="6275"/>
                </a:cubicBezTo>
                <a:cubicBezTo>
                  <a:pt x="5740" y="6263"/>
                  <a:pt x="5728" y="6251"/>
                  <a:pt x="5728" y="6228"/>
                </a:cubicBezTo>
                <a:lnTo>
                  <a:pt x="5716" y="6204"/>
                </a:lnTo>
                <a:cubicBezTo>
                  <a:pt x="5716" y="6192"/>
                  <a:pt x="5692" y="6168"/>
                  <a:pt x="5692" y="6156"/>
                </a:cubicBezTo>
                <a:lnTo>
                  <a:pt x="5692" y="6144"/>
                </a:lnTo>
                <a:cubicBezTo>
                  <a:pt x="5656" y="6037"/>
                  <a:pt x="5597" y="5930"/>
                  <a:pt x="5549" y="5835"/>
                </a:cubicBezTo>
                <a:cubicBezTo>
                  <a:pt x="5518" y="5780"/>
                  <a:pt x="5461" y="5751"/>
                  <a:pt x="5405" y="5751"/>
                </a:cubicBezTo>
                <a:cubicBezTo>
                  <a:pt x="5376" y="5751"/>
                  <a:pt x="5347" y="5759"/>
                  <a:pt x="5323" y="5775"/>
                </a:cubicBezTo>
                <a:cubicBezTo>
                  <a:pt x="5252" y="5811"/>
                  <a:pt x="5216" y="5918"/>
                  <a:pt x="5263" y="5989"/>
                </a:cubicBezTo>
                <a:cubicBezTo>
                  <a:pt x="5311" y="6085"/>
                  <a:pt x="5371" y="6192"/>
                  <a:pt x="5394" y="6275"/>
                </a:cubicBezTo>
                <a:lnTo>
                  <a:pt x="5394" y="6287"/>
                </a:lnTo>
                <a:cubicBezTo>
                  <a:pt x="5394" y="6311"/>
                  <a:pt x="5418" y="6323"/>
                  <a:pt x="5418" y="6335"/>
                </a:cubicBezTo>
                <a:lnTo>
                  <a:pt x="5430" y="6370"/>
                </a:lnTo>
                <a:cubicBezTo>
                  <a:pt x="5430" y="6382"/>
                  <a:pt x="5442" y="6394"/>
                  <a:pt x="5442" y="6406"/>
                </a:cubicBezTo>
                <a:cubicBezTo>
                  <a:pt x="5442" y="6430"/>
                  <a:pt x="5442" y="6430"/>
                  <a:pt x="5454" y="6442"/>
                </a:cubicBezTo>
                <a:cubicBezTo>
                  <a:pt x="5454" y="6454"/>
                  <a:pt x="5478" y="6466"/>
                  <a:pt x="5478" y="6490"/>
                </a:cubicBezTo>
                <a:lnTo>
                  <a:pt x="5490" y="6513"/>
                </a:lnTo>
                <a:cubicBezTo>
                  <a:pt x="5490" y="6525"/>
                  <a:pt x="5502" y="6549"/>
                  <a:pt x="5502" y="6561"/>
                </a:cubicBezTo>
                <a:lnTo>
                  <a:pt x="5502" y="6585"/>
                </a:lnTo>
                <a:cubicBezTo>
                  <a:pt x="5502" y="6609"/>
                  <a:pt x="5513" y="6621"/>
                  <a:pt x="5513" y="6632"/>
                </a:cubicBezTo>
                <a:lnTo>
                  <a:pt x="5513" y="6668"/>
                </a:lnTo>
                <a:cubicBezTo>
                  <a:pt x="5513" y="6680"/>
                  <a:pt x="5513" y="6692"/>
                  <a:pt x="5537" y="6704"/>
                </a:cubicBezTo>
                <a:lnTo>
                  <a:pt x="5537" y="6740"/>
                </a:lnTo>
                <a:cubicBezTo>
                  <a:pt x="5537" y="6751"/>
                  <a:pt x="5549" y="6787"/>
                  <a:pt x="5549" y="6799"/>
                </a:cubicBezTo>
                <a:cubicBezTo>
                  <a:pt x="5549" y="6811"/>
                  <a:pt x="5561" y="6847"/>
                  <a:pt x="5561" y="6859"/>
                </a:cubicBezTo>
                <a:lnTo>
                  <a:pt x="5561" y="6882"/>
                </a:lnTo>
                <a:lnTo>
                  <a:pt x="5561" y="6930"/>
                </a:lnTo>
                <a:lnTo>
                  <a:pt x="5561" y="6942"/>
                </a:lnTo>
                <a:lnTo>
                  <a:pt x="5561" y="6966"/>
                </a:lnTo>
                <a:lnTo>
                  <a:pt x="5561" y="7002"/>
                </a:lnTo>
                <a:lnTo>
                  <a:pt x="5561" y="7037"/>
                </a:lnTo>
                <a:lnTo>
                  <a:pt x="5561" y="7085"/>
                </a:lnTo>
                <a:lnTo>
                  <a:pt x="5561" y="7109"/>
                </a:lnTo>
                <a:lnTo>
                  <a:pt x="5561" y="7156"/>
                </a:lnTo>
                <a:lnTo>
                  <a:pt x="5561" y="7180"/>
                </a:lnTo>
                <a:lnTo>
                  <a:pt x="5561" y="7216"/>
                </a:lnTo>
                <a:lnTo>
                  <a:pt x="5561" y="7240"/>
                </a:lnTo>
                <a:lnTo>
                  <a:pt x="5561" y="7287"/>
                </a:lnTo>
                <a:lnTo>
                  <a:pt x="5561" y="7299"/>
                </a:lnTo>
                <a:lnTo>
                  <a:pt x="5561" y="7335"/>
                </a:lnTo>
                <a:lnTo>
                  <a:pt x="5561" y="7359"/>
                </a:lnTo>
                <a:lnTo>
                  <a:pt x="5561" y="7383"/>
                </a:lnTo>
                <a:lnTo>
                  <a:pt x="5561" y="7394"/>
                </a:lnTo>
                <a:lnTo>
                  <a:pt x="5561" y="7454"/>
                </a:lnTo>
                <a:lnTo>
                  <a:pt x="5561" y="7466"/>
                </a:lnTo>
                <a:cubicBezTo>
                  <a:pt x="5537" y="8133"/>
                  <a:pt x="5252" y="8728"/>
                  <a:pt x="4823" y="9180"/>
                </a:cubicBezTo>
                <a:cubicBezTo>
                  <a:pt x="4644" y="8835"/>
                  <a:pt x="4323" y="8704"/>
                  <a:pt x="4287" y="8692"/>
                </a:cubicBezTo>
                <a:lnTo>
                  <a:pt x="3513" y="8371"/>
                </a:lnTo>
                <a:lnTo>
                  <a:pt x="3513" y="8228"/>
                </a:lnTo>
                <a:cubicBezTo>
                  <a:pt x="3751" y="8109"/>
                  <a:pt x="3942" y="7894"/>
                  <a:pt x="4049" y="7633"/>
                </a:cubicBezTo>
                <a:lnTo>
                  <a:pt x="4085" y="7633"/>
                </a:lnTo>
                <a:cubicBezTo>
                  <a:pt x="4359" y="7633"/>
                  <a:pt x="4585" y="7406"/>
                  <a:pt x="4585" y="7109"/>
                </a:cubicBezTo>
                <a:cubicBezTo>
                  <a:pt x="4585" y="6906"/>
                  <a:pt x="4466" y="6704"/>
                  <a:pt x="4287" y="6632"/>
                </a:cubicBezTo>
                <a:lnTo>
                  <a:pt x="4287" y="6454"/>
                </a:lnTo>
                <a:cubicBezTo>
                  <a:pt x="4287" y="5680"/>
                  <a:pt x="3704" y="5061"/>
                  <a:pt x="2989" y="5061"/>
                </a:cubicBezTo>
                <a:lnTo>
                  <a:pt x="2894" y="5061"/>
                </a:lnTo>
                <a:cubicBezTo>
                  <a:pt x="2180" y="5061"/>
                  <a:pt x="1608" y="5680"/>
                  <a:pt x="1608" y="6454"/>
                </a:cubicBezTo>
                <a:lnTo>
                  <a:pt x="1608" y="6632"/>
                </a:lnTo>
                <a:cubicBezTo>
                  <a:pt x="1430" y="6704"/>
                  <a:pt x="1311" y="6906"/>
                  <a:pt x="1311" y="7109"/>
                </a:cubicBezTo>
                <a:cubicBezTo>
                  <a:pt x="1311" y="7394"/>
                  <a:pt x="1525" y="7633"/>
                  <a:pt x="1799" y="7633"/>
                </a:cubicBezTo>
                <a:cubicBezTo>
                  <a:pt x="1811" y="7633"/>
                  <a:pt x="1823" y="7633"/>
                  <a:pt x="1846" y="7621"/>
                </a:cubicBezTo>
                <a:cubicBezTo>
                  <a:pt x="1942" y="7883"/>
                  <a:pt x="2156" y="8109"/>
                  <a:pt x="2406" y="8228"/>
                </a:cubicBezTo>
                <a:lnTo>
                  <a:pt x="2406" y="8371"/>
                </a:lnTo>
                <a:lnTo>
                  <a:pt x="1620" y="8692"/>
                </a:lnTo>
                <a:cubicBezTo>
                  <a:pt x="1572" y="8704"/>
                  <a:pt x="1251" y="8835"/>
                  <a:pt x="1084" y="9180"/>
                </a:cubicBezTo>
                <a:cubicBezTo>
                  <a:pt x="596" y="8668"/>
                  <a:pt x="299" y="7978"/>
                  <a:pt x="334" y="7216"/>
                </a:cubicBezTo>
                <a:lnTo>
                  <a:pt x="334" y="7204"/>
                </a:lnTo>
                <a:lnTo>
                  <a:pt x="334" y="7156"/>
                </a:lnTo>
                <a:lnTo>
                  <a:pt x="334" y="7144"/>
                </a:lnTo>
                <a:lnTo>
                  <a:pt x="334" y="7121"/>
                </a:lnTo>
                <a:lnTo>
                  <a:pt x="334" y="7097"/>
                </a:lnTo>
                <a:lnTo>
                  <a:pt x="334" y="7085"/>
                </a:lnTo>
                <a:lnTo>
                  <a:pt x="334" y="7061"/>
                </a:lnTo>
                <a:lnTo>
                  <a:pt x="334" y="7025"/>
                </a:lnTo>
                <a:lnTo>
                  <a:pt x="334" y="7002"/>
                </a:lnTo>
                <a:lnTo>
                  <a:pt x="334" y="6990"/>
                </a:lnTo>
                <a:lnTo>
                  <a:pt x="334" y="6942"/>
                </a:lnTo>
                <a:lnTo>
                  <a:pt x="334" y="6918"/>
                </a:lnTo>
                <a:lnTo>
                  <a:pt x="334" y="6871"/>
                </a:lnTo>
                <a:lnTo>
                  <a:pt x="334" y="6847"/>
                </a:lnTo>
                <a:cubicBezTo>
                  <a:pt x="334" y="6823"/>
                  <a:pt x="334" y="6811"/>
                  <a:pt x="358" y="6799"/>
                </a:cubicBezTo>
                <a:lnTo>
                  <a:pt x="358" y="6763"/>
                </a:lnTo>
                <a:cubicBezTo>
                  <a:pt x="358" y="6751"/>
                  <a:pt x="358" y="6740"/>
                  <a:pt x="370" y="6740"/>
                </a:cubicBezTo>
                <a:lnTo>
                  <a:pt x="370" y="6728"/>
                </a:lnTo>
                <a:lnTo>
                  <a:pt x="370" y="6704"/>
                </a:lnTo>
                <a:cubicBezTo>
                  <a:pt x="370" y="6692"/>
                  <a:pt x="370" y="6680"/>
                  <a:pt x="382" y="6668"/>
                </a:cubicBezTo>
                <a:lnTo>
                  <a:pt x="382" y="6644"/>
                </a:lnTo>
                <a:lnTo>
                  <a:pt x="382" y="6632"/>
                </a:lnTo>
                <a:cubicBezTo>
                  <a:pt x="382" y="6621"/>
                  <a:pt x="394" y="6585"/>
                  <a:pt x="394" y="6573"/>
                </a:cubicBezTo>
                <a:cubicBezTo>
                  <a:pt x="394" y="6561"/>
                  <a:pt x="406" y="6525"/>
                  <a:pt x="406" y="6513"/>
                </a:cubicBezTo>
                <a:lnTo>
                  <a:pt x="406" y="6501"/>
                </a:lnTo>
                <a:cubicBezTo>
                  <a:pt x="406" y="6490"/>
                  <a:pt x="429" y="6466"/>
                  <a:pt x="429" y="6454"/>
                </a:cubicBezTo>
                <a:cubicBezTo>
                  <a:pt x="429" y="6442"/>
                  <a:pt x="429" y="6442"/>
                  <a:pt x="441" y="6430"/>
                </a:cubicBezTo>
                <a:cubicBezTo>
                  <a:pt x="441" y="6406"/>
                  <a:pt x="453" y="6394"/>
                  <a:pt x="453" y="6382"/>
                </a:cubicBezTo>
                <a:cubicBezTo>
                  <a:pt x="453" y="6370"/>
                  <a:pt x="453" y="6370"/>
                  <a:pt x="465" y="6347"/>
                </a:cubicBezTo>
                <a:cubicBezTo>
                  <a:pt x="465" y="6335"/>
                  <a:pt x="489" y="6323"/>
                  <a:pt x="489" y="6311"/>
                </a:cubicBezTo>
                <a:cubicBezTo>
                  <a:pt x="489" y="6311"/>
                  <a:pt x="489" y="6287"/>
                  <a:pt x="501" y="6275"/>
                </a:cubicBezTo>
                <a:cubicBezTo>
                  <a:pt x="501" y="6263"/>
                  <a:pt x="513" y="6251"/>
                  <a:pt x="513" y="6228"/>
                </a:cubicBezTo>
                <a:cubicBezTo>
                  <a:pt x="513" y="6216"/>
                  <a:pt x="513" y="6216"/>
                  <a:pt x="525" y="6204"/>
                </a:cubicBezTo>
                <a:cubicBezTo>
                  <a:pt x="525" y="6192"/>
                  <a:pt x="549" y="6168"/>
                  <a:pt x="549" y="6156"/>
                </a:cubicBezTo>
                <a:lnTo>
                  <a:pt x="560" y="6144"/>
                </a:lnTo>
                <a:cubicBezTo>
                  <a:pt x="560" y="6132"/>
                  <a:pt x="572" y="6109"/>
                  <a:pt x="572" y="6097"/>
                </a:cubicBezTo>
                <a:lnTo>
                  <a:pt x="572" y="6085"/>
                </a:lnTo>
                <a:cubicBezTo>
                  <a:pt x="691" y="5859"/>
                  <a:pt x="858" y="5656"/>
                  <a:pt x="1037" y="5454"/>
                </a:cubicBezTo>
                <a:lnTo>
                  <a:pt x="1049" y="5442"/>
                </a:lnTo>
                <a:lnTo>
                  <a:pt x="1061" y="5430"/>
                </a:lnTo>
                <a:lnTo>
                  <a:pt x="1084" y="5418"/>
                </a:lnTo>
                <a:lnTo>
                  <a:pt x="1096" y="5394"/>
                </a:lnTo>
                <a:lnTo>
                  <a:pt x="1108" y="5382"/>
                </a:lnTo>
                <a:lnTo>
                  <a:pt x="1120" y="5370"/>
                </a:lnTo>
                <a:lnTo>
                  <a:pt x="1144" y="5358"/>
                </a:lnTo>
                <a:cubicBezTo>
                  <a:pt x="1156" y="5358"/>
                  <a:pt x="1156" y="5335"/>
                  <a:pt x="1168" y="5335"/>
                </a:cubicBezTo>
                <a:lnTo>
                  <a:pt x="1180" y="5323"/>
                </a:lnTo>
                <a:cubicBezTo>
                  <a:pt x="1203" y="5323"/>
                  <a:pt x="1203" y="5311"/>
                  <a:pt x="1215" y="5311"/>
                </a:cubicBezTo>
                <a:cubicBezTo>
                  <a:pt x="1227" y="5311"/>
                  <a:pt x="1227" y="5299"/>
                  <a:pt x="1239" y="5299"/>
                </a:cubicBezTo>
                <a:cubicBezTo>
                  <a:pt x="1263" y="5299"/>
                  <a:pt x="1263" y="5275"/>
                  <a:pt x="1275" y="5275"/>
                </a:cubicBezTo>
                <a:cubicBezTo>
                  <a:pt x="1287" y="5275"/>
                  <a:pt x="1287" y="5263"/>
                  <a:pt x="1299" y="5263"/>
                </a:cubicBezTo>
                <a:cubicBezTo>
                  <a:pt x="1322" y="5263"/>
                  <a:pt x="1322" y="5251"/>
                  <a:pt x="1334" y="5251"/>
                </a:cubicBezTo>
                <a:cubicBezTo>
                  <a:pt x="1346" y="5251"/>
                  <a:pt x="1346" y="5239"/>
                  <a:pt x="1358" y="5239"/>
                </a:cubicBezTo>
                <a:cubicBezTo>
                  <a:pt x="1382" y="5239"/>
                  <a:pt x="1382" y="5216"/>
                  <a:pt x="1394" y="5216"/>
                </a:cubicBezTo>
                <a:cubicBezTo>
                  <a:pt x="1406" y="5216"/>
                  <a:pt x="1406" y="5204"/>
                  <a:pt x="1418" y="5204"/>
                </a:cubicBezTo>
                <a:cubicBezTo>
                  <a:pt x="1442" y="5204"/>
                  <a:pt x="1442" y="5192"/>
                  <a:pt x="1453" y="5192"/>
                </a:cubicBezTo>
                <a:cubicBezTo>
                  <a:pt x="1465" y="5192"/>
                  <a:pt x="1465" y="5180"/>
                  <a:pt x="1477" y="5180"/>
                </a:cubicBezTo>
                <a:cubicBezTo>
                  <a:pt x="1501" y="5180"/>
                  <a:pt x="1501" y="5156"/>
                  <a:pt x="1513" y="5156"/>
                </a:cubicBezTo>
                <a:cubicBezTo>
                  <a:pt x="1525" y="5156"/>
                  <a:pt x="1525" y="5144"/>
                  <a:pt x="1537" y="5144"/>
                </a:cubicBezTo>
                <a:cubicBezTo>
                  <a:pt x="1561" y="5144"/>
                  <a:pt x="1561" y="5132"/>
                  <a:pt x="1572" y="5132"/>
                </a:cubicBezTo>
                <a:cubicBezTo>
                  <a:pt x="1584" y="5132"/>
                  <a:pt x="1584" y="5120"/>
                  <a:pt x="1596" y="5120"/>
                </a:cubicBezTo>
                <a:cubicBezTo>
                  <a:pt x="1620" y="5120"/>
                  <a:pt x="1620" y="5097"/>
                  <a:pt x="1632" y="5097"/>
                </a:cubicBezTo>
                <a:cubicBezTo>
                  <a:pt x="1644" y="5097"/>
                  <a:pt x="1644" y="5085"/>
                  <a:pt x="1656" y="5085"/>
                </a:cubicBezTo>
                <a:cubicBezTo>
                  <a:pt x="1680" y="5085"/>
                  <a:pt x="1680" y="5073"/>
                  <a:pt x="1692" y="5073"/>
                </a:cubicBezTo>
                <a:lnTo>
                  <a:pt x="1703" y="5073"/>
                </a:lnTo>
                <a:cubicBezTo>
                  <a:pt x="1715" y="5073"/>
                  <a:pt x="1715" y="5061"/>
                  <a:pt x="1739" y="5061"/>
                </a:cubicBezTo>
                <a:cubicBezTo>
                  <a:pt x="1739" y="5061"/>
                  <a:pt x="1751" y="5061"/>
                  <a:pt x="1751" y="5037"/>
                </a:cubicBezTo>
                <a:lnTo>
                  <a:pt x="1763" y="5025"/>
                </a:lnTo>
                <a:cubicBezTo>
                  <a:pt x="1763" y="5025"/>
                  <a:pt x="1775" y="5025"/>
                  <a:pt x="1775" y="5013"/>
                </a:cubicBezTo>
                <a:cubicBezTo>
                  <a:pt x="1799" y="5013"/>
                  <a:pt x="1799" y="5013"/>
                  <a:pt x="1811" y="5001"/>
                </a:cubicBezTo>
                <a:lnTo>
                  <a:pt x="1823" y="5001"/>
                </a:lnTo>
                <a:cubicBezTo>
                  <a:pt x="1823" y="5001"/>
                  <a:pt x="1834" y="5001"/>
                  <a:pt x="1834" y="4977"/>
                </a:cubicBezTo>
                <a:cubicBezTo>
                  <a:pt x="1858" y="4977"/>
                  <a:pt x="1858" y="4966"/>
                  <a:pt x="1870" y="4966"/>
                </a:cubicBezTo>
                <a:cubicBezTo>
                  <a:pt x="1882" y="4966"/>
                  <a:pt x="1894" y="4954"/>
                  <a:pt x="1918" y="4954"/>
                </a:cubicBezTo>
                <a:cubicBezTo>
                  <a:pt x="1930" y="4954"/>
                  <a:pt x="1942" y="4942"/>
                  <a:pt x="1953" y="4942"/>
                </a:cubicBezTo>
                <a:lnTo>
                  <a:pt x="1977" y="4942"/>
                </a:lnTo>
                <a:lnTo>
                  <a:pt x="1989" y="4918"/>
                </a:lnTo>
                <a:cubicBezTo>
                  <a:pt x="2001" y="4918"/>
                  <a:pt x="2001" y="4918"/>
                  <a:pt x="2013" y="4906"/>
                </a:cubicBezTo>
                <a:cubicBezTo>
                  <a:pt x="2013" y="4906"/>
                  <a:pt x="2037" y="4906"/>
                  <a:pt x="2037" y="4894"/>
                </a:cubicBezTo>
                <a:lnTo>
                  <a:pt x="2049" y="4894"/>
                </a:lnTo>
                <a:cubicBezTo>
                  <a:pt x="2061" y="4894"/>
                  <a:pt x="2061" y="4894"/>
                  <a:pt x="2073" y="4882"/>
                </a:cubicBezTo>
                <a:lnTo>
                  <a:pt x="2108" y="4882"/>
                </a:lnTo>
                <a:cubicBezTo>
                  <a:pt x="2120" y="4882"/>
                  <a:pt x="2120" y="4882"/>
                  <a:pt x="2132" y="4858"/>
                </a:cubicBezTo>
                <a:lnTo>
                  <a:pt x="2168" y="4846"/>
                </a:lnTo>
                <a:cubicBezTo>
                  <a:pt x="2180" y="4858"/>
                  <a:pt x="2215" y="4858"/>
                  <a:pt x="2227" y="4858"/>
                </a:cubicBezTo>
                <a:cubicBezTo>
                  <a:pt x="2275" y="4858"/>
                  <a:pt x="2311" y="4835"/>
                  <a:pt x="2346" y="4799"/>
                </a:cubicBezTo>
                <a:lnTo>
                  <a:pt x="3442" y="4799"/>
                </a:lnTo>
                <a:cubicBezTo>
                  <a:pt x="3466" y="4799"/>
                  <a:pt x="3477" y="4799"/>
                  <a:pt x="3477" y="4823"/>
                </a:cubicBezTo>
                <a:cubicBezTo>
                  <a:pt x="3489" y="4823"/>
                  <a:pt x="3489" y="4823"/>
                  <a:pt x="3501" y="4835"/>
                </a:cubicBezTo>
                <a:cubicBezTo>
                  <a:pt x="3525" y="4835"/>
                  <a:pt x="3537" y="4835"/>
                  <a:pt x="3537" y="4846"/>
                </a:cubicBezTo>
                <a:cubicBezTo>
                  <a:pt x="3549" y="4846"/>
                  <a:pt x="3549" y="4846"/>
                  <a:pt x="3561" y="4858"/>
                </a:cubicBezTo>
                <a:cubicBezTo>
                  <a:pt x="3585" y="4858"/>
                  <a:pt x="3597" y="4858"/>
                  <a:pt x="3597" y="4882"/>
                </a:cubicBezTo>
                <a:cubicBezTo>
                  <a:pt x="3608" y="4882"/>
                  <a:pt x="3608" y="4882"/>
                  <a:pt x="3620" y="4894"/>
                </a:cubicBezTo>
                <a:cubicBezTo>
                  <a:pt x="3644" y="4894"/>
                  <a:pt x="3644" y="4894"/>
                  <a:pt x="3656" y="4906"/>
                </a:cubicBezTo>
                <a:cubicBezTo>
                  <a:pt x="3668" y="4906"/>
                  <a:pt x="3668" y="4906"/>
                  <a:pt x="3680" y="4918"/>
                </a:cubicBezTo>
                <a:cubicBezTo>
                  <a:pt x="3704" y="4918"/>
                  <a:pt x="3704" y="4942"/>
                  <a:pt x="3716" y="4942"/>
                </a:cubicBezTo>
                <a:cubicBezTo>
                  <a:pt x="3728" y="4942"/>
                  <a:pt x="3728" y="4942"/>
                  <a:pt x="3739" y="4954"/>
                </a:cubicBezTo>
                <a:cubicBezTo>
                  <a:pt x="3763" y="4954"/>
                  <a:pt x="3763" y="4966"/>
                  <a:pt x="3775" y="4966"/>
                </a:cubicBezTo>
                <a:lnTo>
                  <a:pt x="3787" y="4966"/>
                </a:lnTo>
                <a:cubicBezTo>
                  <a:pt x="3787" y="4966"/>
                  <a:pt x="3799" y="4966"/>
                  <a:pt x="3799" y="4977"/>
                </a:cubicBezTo>
                <a:cubicBezTo>
                  <a:pt x="3823" y="4977"/>
                  <a:pt x="3823" y="4977"/>
                  <a:pt x="3835" y="5001"/>
                </a:cubicBezTo>
                <a:lnTo>
                  <a:pt x="3847" y="5013"/>
                </a:lnTo>
                <a:cubicBezTo>
                  <a:pt x="3847" y="5013"/>
                  <a:pt x="3858" y="5013"/>
                  <a:pt x="3858" y="5025"/>
                </a:cubicBezTo>
                <a:cubicBezTo>
                  <a:pt x="3882" y="5025"/>
                  <a:pt x="3882" y="5037"/>
                  <a:pt x="3894" y="5037"/>
                </a:cubicBezTo>
                <a:lnTo>
                  <a:pt x="3906" y="5037"/>
                </a:lnTo>
                <a:cubicBezTo>
                  <a:pt x="3906" y="5037"/>
                  <a:pt x="3918" y="5037"/>
                  <a:pt x="3918" y="5061"/>
                </a:cubicBezTo>
                <a:cubicBezTo>
                  <a:pt x="3942" y="5061"/>
                  <a:pt x="3942" y="5073"/>
                  <a:pt x="3954" y="5073"/>
                </a:cubicBezTo>
                <a:lnTo>
                  <a:pt x="3966" y="5085"/>
                </a:lnTo>
                <a:cubicBezTo>
                  <a:pt x="3966" y="5085"/>
                  <a:pt x="3978" y="5085"/>
                  <a:pt x="3978" y="5097"/>
                </a:cubicBezTo>
                <a:cubicBezTo>
                  <a:pt x="4001" y="5097"/>
                  <a:pt x="4001" y="5120"/>
                  <a:pt x="4013" y="5120"/>
                </a:cubicBezTo>
                <a:lnTo>
                  <a:pt x="4025" y="5132"/>
                </a:lnTo>
                <a:cubicBezTo>
                  <a:pt x="4025" y="5132"/>
                  <a:pt x="4037" y="5132"/>
                  <a:pt x="4037" y="5144"/>
                </a:cubicBezTo>
                <a:cubicBezTo>
                  <a:pt x="4061" y="5144"/>
                  <a:pt x="4073" y="5156"/>
                  <a:pt x="4085" y="5156"/>
                </a:cubicBezTo>
                <a:cubicBezTo>
                  <a:pt x="4097" y="5156"/>
                  <a:pt x="4120" y="5180"/>
                  <a:pt x="4132" y="5180"/>
                </a:cubicBezTo>
                <a:cubicBezTo>
                  <a:pt x="4144" y="5180"/>
                  <a:pt x="4144" y="5192"/>
                  <a:pt x="4156" y="5192"/>
                </a:cubicBezTo>
                <a:lnTo>
                  <a:pt x="4180" y="5204"/>
                </a:lnTo>
                <a:lnTo>
                  <a:pt x="4192" y="5216"/>
                </a:lnTo>
                <a:lnTo>
                  <a:pt x="4204" y="5239"/>
                </a:lnTo>
                <a:lnTo>
                  <a:pt x="4216" y="5251"/>
                </a:lnTo>
                <a:lnTo>
                  <a:pt x="4239" y="5263"/>
                </a:lnTo>
                <a:lnTo>
                  <a:pt x="4251" y="5275"/>
                </a:lnTo>
                <a:cubicBezTo>
                  <a:pt x="4263" y="5275"/>
                  <a:pt x="4263" y="5299"/>
                  <a:pt x="4275" y="5299"/>
                </a:cubicBezTo>
                <a:cubicBezTo>
                  <a:pt x="4299" y="5299"/>
                  <a:pt x="4299" y="5311"/>
                  <a:pt x="4311" y="5311"/>
                </a:cubicBezTo>
                <a:cubicBezTo>
                  <a:pt x="4323" y="5311"/>
                  <a:pt x="4323" y="5323"/>
                  <a:pt x="4335" y="5323"/>
                </a:cubicBezTo>
                <a:lnTo>
                  <a:pt x="4359" y="5323"/>
                </a:lnTo>
                <a:lnTo>
                  <a:pt x="4370" y="5335"/>
                </a:lnTo>
                <a:cubicBezTo>
                  <a:pt x="4382" y="5335"/>
                  <a:pt x="4382" y="5358"/>
                  <a:pt x="4394" y="5358"/>
                </a:cubicBezTo>
                <a:cubicBezTo>
                  <a:pt x="4418" y="5358"/>
                  <a:pt x="4418" y="5370"/>
                  <a:pt x="4430" y="5370"/>
                </a:cubicBezTo>
                <a:cubicBezTo>
                  <a:pt x="4442" y="5370"/>
                  <a:pt x="4442" y="5382"/>
                  <a:pt x="4454" y="5382"/>
                </a:cubicBezTo>
                <a:cubicBezTo>
                  <a:pt x="4478" y="5382"/>
                  <a:pt x="4478" y="5394"/>
                  <a:pt x="4490" y="5394"/>
                </a:cubicBezTo>
                <a:cubicBezTo>
                  <a:pt x="4501" y="5394"/>
                  <a:pt x="4501" y="5418"/>
                  <a:pt x="4513" y="5418"/>
                </a:cubicBezTo>
                <a:cubicBezTo>
                  <a:pt x="4537" y="5418"/>
                  <a:pt x="4537" y="5430"/>
                  <a:pt x="4549" y="5430"/>
                </a:cubicBezTo>
                <a:cubicBezTo>
                  <a:pt x="4561" y="5430"/>
                  <a:pt x="4561" y="5442"/>
                  <a:pt x="4573" y="5442"/>
                </a:cubicBezTo>
                <a:cubicBezTo>
                  <a:pt x="4597" y="5442"/>
                  <a:pt x="4597" y="5454"/>
                  <a:pt x="4609" y="5454"/>
                </a:cubicBezTo>
                <a:cubicBezTo>
                  <a:pt x="4620" y="5454"/>
                  <a:pt x="4620" y="5478"/>
                  <a:pt x="4632" y="5478"/>
                </a:cubicBezTo>
                <a:cubicBezTo>
                  <a:pt x="4656" y="5478"/>
                  <a:pt x="4656" y="5489"/>
                  <a:pt x="4668" y="5489"/>
                </a:cubicBezTo>
                <a:lnTo>
                  <a:pt x="4680" y="5501"/>
                </a:lnTo>
                <a:cubicBezTo>
                  <a:pt x="4692" y="5501"/>
                  <a:pt x="4692" y="5513"/>
                  <a:pt x="4716" y="5513"/>
                </a:cubicBezTo>
                <a:lnTo>
                  <a:pt x="4728" y="5537"/>
                </a:lnTo>
                <a:lnTo>
                  <a:pt x="4751" y="5561"/>
                </a:lnTo>
                <a:lnTo>
                  <a:pt x="4787" y="5597"/>
                </a:lnTo>
                <a:lnTo>
                  <a:pt x="4799" y="5608"/>
                </a:lnTo>
                <a:cubicBezTo>
                  <a:pt x="4832" y="5641"/>
                  <a:pt x="4879" y="5660"/>
                  <a:pt x="4925" y="5660"/>
                </a:cubicBezTo>
                <a:cubicBezTo>
                  <a:pt x="4962" y="5660"/>
                  <a:pt x="4998" y="5647"/>
                  <a:pt x="5025" y="5620"/>
                </a:cubicBezTo>
                <a:cubicBezTo>
                  <a:pt x="5085" y="5561"/>
                  <a:pt x="5097" y="5454"/>
                  <a:pt x="5037" y="5394"/>
                </a:cubicBezTo>
                <a:lnTo>
                  <a:pt x="5025" y="5382"/>
                </a:lnTo>
                <a:lnTo>
                  <a:pt x="4990" y="5358"/>
                </a:lnTo>
                <a:lnTo>
                  <a:pt x="4966" y="5323"/>
                </a:lnTo>
                <a:lnTo>
                  <a:pt x="4954" y="5311"/>
                </a:lnTo>
                <a:lnTo>
                  <a:pt x="4918" y="5275"/>
                </a:lnTo>
                <a:lnTo>
                  <a:pt x="4894" y="5251"/>
                </a:lnTo>
                <a:lnTo>
                  <a:pt x="4859" y="5216"/>
                </a:lnTo>
                <a:lnTo>
                  <a:pt x="4835" y="5192"/>
                </a:lnTo>
                <a:lnTo>
                  <a:pt x="4799" y="5156"/>
                </a:lnTo>
                <a:lnTo>
                  <a:pt x="4775" y="5132"/>
                </a:lnTo>
                <a:lnTo>
                  <a:pt x="4740" y="5097"/>
                </a:lnTo>
                <a:lnTo>
                  <a:pt x="4716" y="5073"/>
                </a:lnTo>
                <a:lnTo>
                  <a:pt x="4680" y="5037"/>
                </a:lnTo>
                <a:lnTo>
                  <a:pt x="4656" y="5013"/>
                </a:lnTo>
                <a:cubicBezTo>
                  <a:pt x="4632" y="5013"/>
                  <a:pt x="4632" y="5001"/>
                  <a:pt x="4620" y="5001"/>
                </a:cubicBezTo>
                <a:cubicBezTo>
                  <a:pt x="4609" y="5001"/>
                  <a:pt x="4609" y="4977"/>
                  <a:pt x="4597" y="4977"/>
                </a:cubicBezTo>
                <a:cubicBezTo>
                  <a:pt x="4573" y="4977"/>
                  <a:pt x="4573" y="4966"/>
                  <a:pt x="4561" y="4966"/>
                </a:cubicBezTo>
                <a:lnTo>
                  <a:pt x="4549" y="4966"/>
                </a:lnTo>
                <a:cubicBezTo>
                  <a:pt x="4537" y="4966"/>
                  <a:pt x="4537" y="4954"/>
                  <a:pt x="4513" y="4954"/>
                </a:cubicBezTo>
                <a:cubicBezTo>
                  <a:pt x="4501" y="4954"/>
                  <a:pt x="4501" y="4942"/>
                  <a:pt x="4490" y="4942"/>
                </a:cubicBezTo>
                <a:cubicBezTo>
                  <a:pt x="4478" y="4942"/>
                  <a:pt x="4478" y="4918"/>
                  <a:pt x="4454" y="4918"/>
                </a:cubicBezTo>
                <a:cubicBezTo>
                  <a:pt x="4442" y="4918"/>
                  <a:pt x="4442" y="4906"/>
                  <a:pt x="4430" y="4906"/>
                </a:cubicBezTo>
                <a:lnTo>
                  <a:pt x="4418" y="4894"/>
                </a:lnTo>
                <a:cubicBezTo>
                  <a:pt x="4394" y="4894"/>
                  <a:pt x="4394" y="4882"/>
                  <a:pt x="4382" y="4882"/>
                </a:cubicBezTo>
                <a:cubicBezTo>
                  <a:pt x="4370" y="4882"/>
                  <a:pt x="4370" y="4858"/>
                  <a:pt x="4359" y="4858"/>
                </a:cubicBezTo>
                <a:lnTo>
                  <a:pt x="4335" y="4846"/>
                </a:lnTo>
                <a:cubicBezTo>
                  <a:pt x="4323" y="4846"/>
                  <a:pt x="4323" y="4835"/>
                  <a:pt x="4311" y="4835"/>
                </a:cubicBezTo>
                <a:cubicBezTo>
                  <a:pt x="4299" y="4835"/>
                  <a:pt x="4299" y="4823"/>
                  <a:pt x="4275" y="4823"/>
                </a:cubicBezTo>
                <a:cubicBezTo>
                  <a:pt x="4263" y="4799"/>
                  <a:pt x="4251" y="4799"/>
                  <a:pt x="4239" y="4787"/>
                </a:cubicBezTo>
                <a:cubicBezTo>
                  <a:pt x="4216" y="4775"/>
                  <a:pt x="4204" y="4775"/>
                  <a:pt x="4192" y="4763"/>
                </a:cubicBezTo>
                <a:cubicBezTo>
                  <a:pt x="4192" y="4763"/>
                  <a:pt x="4180" y="4763"/>
                  <a:pt x="4180" y="4739"/>
                </a:cubicBezTo>
                <a:lnTo>
                  <a:pt x="4156" y="4727"/>
                </a:lnTo>
                <a:cubicBezTo>
                  <a:pt x="4144" y="4727"/>
                  <a:pt x="4144" y="4716"/>
                  <a:pt x="4132" y="4716"/>
                </a:cubicBezTo>
                <a:cubicBezTo>
                  <a:pt x="4132" y="4716"/>
                  <a:pt x="4120" y="4716"/>
                  <a:pt x="4120" y="4704"/>
                </a:cubicBezTo>
                <a:lnTo>
                  <a:pt x="4097" y="4680"/>
                </a:lnTo>
                <a:cubicBezTo>
                  <a:pt x="4085" y="4680"/>
                  <a:pt x="4085" y="4668"/>
                  <a:pt x="4073" y="4668"/>
                </a:cubicBezTo>
                <a:cubicBezTo>
                  <a:pt x="4061" y="4668"/>
                  <a:pt x="4061" y="4668"/>
                  <a:pt x="4037" y="4656"/>
                </a:cubicBezTo>
                <a:lnTo>
                  <a:pt x="4025" y="4656"/>
                </a:lnTo>
                <a:cubicBezTo>
                  <a:pt x="4013" y="4656"/>
                  <a:pt x="4013" y="4644"/>
                  <a:pt x="4001" y="4644"/>
                </a:cubicBezTo>
                <a:cubicBezTo>
                  <a:pt x="3978" y="4644"/>
                  <a:pt x="3978" y="4644"/>
                  <a:pt x="3966" y="4620"/>
                </a:cubicBezTo>
                <a:lnTo>
                  <a:pt x="3954" y="4608"/>
                </a:lnTo>
                <a:cubicBezTo>
                  <a:pt x="3942" y="4608"/>
                  <a:pt x="3942" y="4608"/>
                  <a:pt x="3918" y="4596"/>
                </a:cubicBezTo>
                <a:cubicBezTo>
                  <a:pt x="3906" y="4596"/>
                  <a:pt x="3906" y="4596"/>
                  <a:pt x="3894" y="4585"/>
                </a:cubicBezTo>
                <a:lnTo>
                  <a:pt x="3882" y="4585"/>
                </a:lnTo>
                <a:cubicBezTo>
                  <a:pt x="3858" y="4585"/>
                  <a:pt x="3847" y="4561"/>
                  <a:pt x="3847" y="4561"/>
                </a:cubicBezTo>
                <a:cubicBezTo>
                  <a:pt x="3835" y="4561"/>
                  <a:pt x="3823" y="4549"/>
                  <a:pt x="3823" y="4549"/>
                </a:cubicBezTo>
                <a:cubicBezTo>
                  <a:pt x="3799" y="4549"/>
                  <a:pt x="3787" y="4537"/>
                  <a:pt x="3787" y="4537"/>
                </a:cubicBezTo>
                <a:cubicBezTo>
                  <a:pt x="3775" y="4537"/>
                  <a:pt x="3763" y="4537"/>
                  <a:pt x="3763" y="4525"/>
                </a:cubicBezTo>
                <a:cubicBezTo>
                  <a:pt x="3739" y="4525"/>
                  <a:pt x="3728" y="4501"/>
                  <a:pt x="3716" y="4501"/>
                </a:cubicBezTo>
                <a:cubicBezTo>
                  <a:pt x="3704" y="4501"/>
                  <a:pt x="3680" y="4501"/>
                  <a:pt x="3680" y="4489"/>
                </a:cubicBezTo>
                <a:cubicBezTo>
                  <a:pt x="3668" y="4489"/>
                  <a:pt x="3656" y="4489"/>
                  <a:pt x="3644" y="4477"/>
                </a:cubicBezTo>
                <a:cubicBezTo>
                  <a:pt x="3620" y="4477"/>
                  <a:pt x="3608" y="4477"/>
                  <a:pt x="3608" y="4465"/>
                </a:cubicBezTo>
                <a:cubicBezTo>
                  <a:pt x="3597" y="4465"/>
                  <a:pt x="3585" y="4465"/>
                  <a:pt x="3561" y="4442"/>
                </a:cubicBezTo>
                <a:cubicBezTo>
                  <a:pt x="3549" y="4442"/>
                  <a:pt x="3549" y="4442"/>
                  <a:pt x="3537" y="4430"/>
                </a:cubicBezTo>
                <a:cubicBezTo>
                  <a:pt x="3525" y="4430"/>
                  <a:pt x="3501" y="4430"/>
                  <a:pt x="3489" y="4418"/>
                </a:cubicBezTo>
                <a:cubicBezTo>
                  <a:pt x="3477" y="4418"/>
                  <a:pt x="3466" y="4418"/>
                  <a:pt x="3466" y="4406"/>
                </a:cubicBezTo>
                <a:cubicBezTo>
                  <a:pt x="3442" y="4406"/>
                  <a:pt x="3430" y="4406"/>
                  <a:pt x="3418" y="4382"/>
                </a:cubicBezTo>
                <a:lnTo>
                  <a:pt x="2358" y="4382"/>
                </a:lnTo>
                <a:lnTo>
                  <a:pt x="2358" y="1334"/>
                </a:lnTo>
                <a:close/>
                <a:moveTo>
                  <a:pt x="3418" y="8621"/>
                </a:moveTo>
                <a:lnTo>
                  <a:pt x="4144" y="8918"/>
                </a:lnTo>
                <a:lnTo>
                  <a:pt x="4168" y="8918"/>
                </a:lnTo>
                <a:cubicBezTo>
                  <a:pt x="4180" y="8918"/>
                  <a:pt x="4442" y="9014"/>
                  <a:pt x="4561" y="9335"/>
                </a:cubicBezTo>
                <a:cubicBezTo>
                  <a:pt x="4180" y="9609"/>
                  <a:pt x="3751" y="9811"/>
                  <a:pt x="3275" y="9883"/>
                </a:cubicBezTo>
                <a:lnTo>
                  <a:pt x="2811" y="9883"/>
                </a:lnTo>
                <a:cubicBezTo>
                  <a:pt x="2775" y="9883"/>
                  <a:pt x="2751" y="9883"/>
                  <a:pt x="2739" y="9895"/>
                </a:cubicBezTo>
                <a:cubicBezTo>
                  <a:pt x="2180" y="9871"/>
                  <a:pt x="1680" y="9657"/>
                  <a:pt x="1275" y="9335"/>
                </a:cubicBezTo>
                <a:cubicBezTo>
                  <a:pt x="1275" y="9311"/>
                  <a:pt x="1287" y="9311"/>
                  <a:pt x="1287" y="9299"/>
                </a:cubicBezTo>
                <a:cubicBezTo>
                  <a:pt x="1406" y="9002"/>
                  <a:pt x="1668" y="8918"/>
                  <a:pt x="1680" y="8918"/>
                </a:cubicBezTo>
                <a:lnTo>
                  <a:pt x="1692" y="8918"/>
                </a:lnTo>
                <a:lnTo>
                  <a:pt x="2418" y="8633"/>
                </a:lnTo>
                <a:lnTo>
                  <a:pt x="2811" y="9002"/>
                </a:lnTo>
                <a:cubicBezTo>
                  <a:pt x="2835" y="9037"/>
                  <a:pt x="2882" y="9049"/>
                  <a:pt x="2930" y="9049"/>
                </a:cubicBezTo>
                <a:cubicBezTo>
                  <a:pt x="2977" y="9049"/>
                  <a:pt x="3013" y="9037"/>
                  <a:pt x="3049" y="9002"/>
                </a:cubicBezTo>
                <a:lnTo>
                  <a:pt x="3418" y="8621"/>
                </a:lnTo>
                <a:close/>
                <a:moveTo>
                  <a:pt x="3728" y="1"/>
                </a:moveTo>
                <a:cubicBezTo>
                  <a:pt x="3692" y="1"/>
                  <a:pt x="3644" y="13"/>
                  <a:pt x="3608" y="36"/>
                </a:cubicBezTo>
                <a:cubicBezTo>
                  <a:pt x="3585" y="72"/>
                  <a:pt x="3573" y="120"/>
                  <a:pt x="3573" y="155"/>
                </a:cubicBezTo>
                <a:lnTo>
                  <a:pt x="3573" y="1013"/>
                </a:lnTo>
                <a:lnTo>
                  <a:pt x="2275" y="1013"/>
                </a:lnTo>
                <a:cubicBezTo>
                  <a:pt x="2227" y="1013"/>
                  <a:pt x="2180" y="1025"/>
                  <a:pt x="2156" y="1048"/>
                </a:cubicBezTo>
                <a:cubicBezTo>
                  <a:pt x="2120" y="1084"/>
                  <a:pt x="2108" y="1132"/>
                  <a:pt x="2108" y="1167"/>
                </a:cubicBezTo>
                <a:lnTo>
                  <a:pt x="2120" y="4465"/>
                </a:lnTo>
                <a:lnTo>
                  <a:pt x="2084" y="4465"/>
                </a:lnTo>
                <a:cubicBezTo>
                  <a:pt x="2061" y="4465"/>
                  <a:pt x="2061" y="4465"/>
                  <a:pt x="2049" y="4477"/>
                </a:cubicBezTo>
                <a:lnTo>
                  <a:pt x="2001" y="4477"/>
                </a:lnTo>
                <a:cubicBezTo>
                  <a:pt x="1989" y="4477"/>
                  <a:pt x="1989" y="4477"/>
                  <a:pt x="1977" y="4489"/>
                </a:cubicBezTo>
                <a:lnTo>
                  <a:pt x="1965" y="4489"/>
                </a:lnTo>
                <a:cubicBezTo>
                  <a:pt x="1942" y="4489"/>
                  <a:pt x="1942" y="4489"/>
                  <a:pt x="1930" y="4513"/>
                </a:cubicBezTo>
                <a:cubicBezTo>
                  <a:pt x="1918" y="4513"/>
                  <a:pt x="1918" y="4513"/>
                  <a:pt x="1906" y="4525"/>
                </a:cubicBezTo>
                <a:lnTo>
                  <a:pt x="1882" y="4537"/>
                </a:lnTo>
                <a:cubicBezTo>
                  <a:pt x="1882" y="4537"/>
                  <a:pt x="1870" y="4537"/>
                  <a:pt x="1870" y="4549"/>
                </a:cubicBezTo>
                <a:cubicBezTo>
                  <a:pt x="1858" y="4549"/>
                  <a:pt x="1846" y="4573"/>
                  <a:pt x="1823" y="4573"/>
                </a:cubicBezTo>
                <a:cubicBezTo>
                  <a:pt x="1811" y="4573"/>
                  <a:pt x="1799" y="4585"/>
                  <a:pt x="1787" y="4585"/>
                </a:cubicBezTo>
                <a:cubicBezTo>
                  <a:pt x="1763" y="4585"/>
                  <a:pt x="1751" y="4596"/>
                  <a:pt x="1751" y="4596"/>
                </a:cubicBezTo>
                <a:cubicBezTo>
                  <a:pt x="1739" y="4596"/>
                  <a:pt x="1739" y="4608"/>
                  <a:pt x="1727" y="4608"/>
                </a:cubicBezTo>
                <a:lnTo>
                  <a:pt x="1703" y="4608"/>
                </a:lnTo>
                <a:cubicBezTo>
                  <a:pt x="1692" y="4608"/>
                  <a:pt x="1692" y="4632"/>
                  <a:pt x="1680" y="4632"/>
                </a:cubicBezTo>
                <a:cubicBezTo>
                  <a:pt x="1668" y="4632"/>
                  <a:pt x="1668" y="4644"/>
                  <a:pt x="1644" y="4644"/>
                </a:cubicBezTo>
                <a:lnTo>
                  <a:pt x="1632" y="4656"/>
                </a:lnTo>
                <a:cubicBezTo>
                  <a:pt x="1620" y="4656"/>
                  <a:pt x="1620" y="4668"/>
                  <a:pt x="1608" y="4668"/>
                </a:cubicBezTo>
                <a:cubicBezTo>
                  <a:pt x="1584" y="4668"/>
                  <a:pt x="1584" y="4692"/>
                  <a:pt x="1572" y="4692"/>
                </a:cubicBezTo>
                <a:cubicBezTo>
                  <a:pt x="1561" y="4692"/>
                  <a:pt x="1561" y="4704"/>
                  <a:pt x="1549" y="4704"/>
                </a:cubicBezTo>
                <a:cubicBezTo>
                  <a:pt x="1525" y="4704"/>
                  <a:pt x="1525" y="4716"/>
                  <a:pt x="1513" y="4716"/>
                </a:cubicBezTo>
                <a:cubicBezTo>
                  <a:pt x="1501" y="4716"/>
                  <a:pt x="1501" y="4727"/>
                  <a:pt x="1489" y="4727"/>
                </a:cubicBezTo>
                <a:cubicBezTo>
                  <a:pt x="1465" y="4727"/>
                  <a:pt x="1465" y="4751"/>
                  <a:pt x="1453" y="4751"/>
                </a:cubicBezTo>
                <a:cubicBezTo>
                  <a:pt x="1442" y="4751"/>
                  <a:pt x="1442" y="4763"/>
                  <a:pt x="1430" y="4763"/>
                </a:cubicBezTo>
                <a:cubicBezTo>
                  <a:pt x="1406" y="4763"/>
                  <a:pt x="1406" y="4775"/>
                  <a:pt x="1394" y="4775"/>
                </a:cubicBezTo>
                <a:cubicBezTo>
                  <a:pt x="1382" y="4775"/>
                  <a:pt x="1382" y="4787"/>
                  <a:pt x="1370" y="4787"/>
                </a:cubicBezTo>
                <a:cubicBezTo>
                  <a:pt x="1346" y="4787"/>
                  <a:pt x="1346" y="4811"/>
                  <a:pt x="1334" y="4811"/>
                </a:cubicBezTo>
                <a:cubicBezTo>
                  <a:pt x="1322" y="4811"/>
                  <a:pt x="1322" y="4823"/>
                  <a:pt x="1311" y="4823"/>
                </a:cubicBezTo>
                <a:cubicBezTo>
                  <a:pt x="1287" y="4823"/>
                  <a:pt x="1287" y="4835"/>
                  <a:pt x="1275" y="4835"/>
                </a:cubicBezTo>
                <a:cubicBezTo>
                  <a:pt x="1263" y="4835"/>
                  <a:pt x="1263" y="4846"/>
                  <a:pt x="1251" y="4846"/>
                </a:cubicBezTo>
                <a:cubicBezTo>
                  <a:pt x="1227" y="4846"/>
                  <a:pt x="1227" y="4870"/>
                  <a:pt x="1215" y="4870"/>
                </a:cubicBezTo>
                <a:cubicBezTo>
                  <a:pt x="1203" y="4870"/>
                  <a:pt x="1203" y="4882"/>
                  <a:pt x="1191" y="4882"/>
                </a:cubicBezTo>
                <a:cubicBezTo>
                  <a:pt x="1168" y="4882"/>
                  <a:pt x="1168" y="4894"/>
                  <a:pt x="1156" y="4894"/>
                </a:cubicBezTo>
                <a:lnTo>
                  <a:pt x="1132" y="4930"/>
                </a:lnTo>
                <a:lnTo>
                  <a:pt x="1096" y="4954"/>
                </a:lnTo>
                <a:lnTo>
                  <a:pt x="1072" y="4989"/>
                </a:lnTo>
                <a:lnTo>
                  <a:pt x="1049" y="5001"/>
                </a:lnTo>
                <a:lnTo>
                  <a:pt x="1025" y="5025"/>
                </a:lnTo>
                <a:lnTo>
                  <a:pt x="1013" y="5049"/>
                </a:lnTo>
                <a:cubicBezTo>
                  <a:pt x="989" y="5049"/>
                  <a:pt x="989" y="5061"/>
                  <a:pt x="977" y="5061"/>
                </a:cubicBezTo>
                <a:lnTo>
                  <a:pt x="965" y="5073"/>
                </a:lnTo>
                <a:lnTo>
                  <a:pt x="953" y="5085"/>
                </a:lnTo>
                <a:lnTo>
                  <a:pt x="918" y="5120"/>
                </a:lnTo>
                <a:lnTo>
                  <a:pt x="906" y="5132"/>
                </a:lnTo>
                <a:cubicBezTo>
                  <a:pt x="691" y="5347"/>
                  <a:pt x="513" y="5561"/>
                  <a:pt x="382" y="5823"/>
                </a:cubicBezTo>
                <a:lnTo>
                  <a:pt x="382" y="5835"/>
                </a:lnTo>
                <a:cubicBezTo>
                  <a:pt x="370" y="5847"/>
                  <a:pt x="370" y="5859"/>
                  <a:pt x="358" y="5882"/>
                </a:cubicBezTo>
                <a:lnTo>
                  <a:pt x="334" y="5906"/>
                </a:lnTo>
                <a:cubicBezTo>
                  <a:pt x="334" y="5918"/>
                  <a:pt x="322" y="5942"/>
                  <a:pt x="322" y="5954"/>
                </a:cubicBezTo>
                <a:cubicBezTo>
                  <a:pt x="322" y="5966"/>
                  <a:pt x="310" y="5966"/>
                  <a:pt x="310" y="5978"/>
                </a:cubicBezTo>
                <a:cubicBezTo>
                  <a:pt x="310" y="6001"/>
                  <a:pt x="299" y="6013"/>
                  <a:pt x="299" y="6025"/>
                </a:cubicBezTo>
                <a:cubicBezTo>
                  <a:pt x="299" y="6037"/>
                  <a:pt x="275" y="6037"/>
                  <a:pt x="275" y="6061"/>
                </a:cubicBezTo>
                <a:cubicBezTo>
                  <a:pt x="275" y="6073"/>
                  <a:pt x="263" y="6085"/>
                  <a:pt x="263" y="6097"/>
                </a:cubicBezTo>
                <a:cubicBezTo>
                  <a:pt x="263" y="6120"/>
                  <a:pt x="251" y="6120"/>
                  <a:pt x="251" y="6132"/>
                </a:cubicBezTo>
                <a:cubicBezTo>
                  <a:pt x="251" y="6144"/>
                  <a:pt x="239" y="6156"/>
                  <a:pt x="239" y="6180"/>
                </a:cubicBezTo>
                <a:cubicBezTo>
                  <a:pt x="239" y="6192"/>
                  <a:pt x="239" y="6192"/>
                  <a:pt x="215" y="6204"/>
                </a:cubicBezTo>
                <a:cubicBezTo>
                  <a:pt x="215" y="6216"/>
                  <a:pt x="203" y="6240"/>
                  <a:pt x="203" y="6251"/>
                </a:cubicBezTo>
                <a:lnTo>
                  <a:pt x="191" y="6275"/>
                </a:lnTo>
                <a:cubicBezTo>
                  <a:pt x="179" y="6311"/>
                  <a:pt x="179" y="6323"/>
                  <a:pt x="156" y="6359"/>
                </a:cubicBezTo>
                <a:cubicBezTo>
                  <a:pt x="156" y="6382"/>
                  <a:pt x="144" y="6394"/>
                  <a:pt x="144" y="6430"/>
                </a:cubicBezTo>
                <a:lnTo>
                  <a:pt x="144" y="6442"/>
                </a:lnTo>
                <a:lnTo>
                  <a:pt x="144" y="6454"/>
                </a:lnTo>
                <a:cubicBezTo>
                  <a:pt x="144" y="6478"/>
                  <a:pt x="132" y="6490"/>
                  <a:pt x="132" y="6501"/>
                </a:cubicBezTo>
                <a:lnTo>
                  <a:pt x="132" y="6513"/>
                </a:lnTo>
                <a:lnTo>
                  <a:pt x="132" y="6537"/>
                </a:lnTo>
                <a:cubicBezTo>
                  <a:pt x="132" y="6549"/>
                  <a:pt x="132" y="6561"/>
                  <a:pt x="120" y="6573"/>
                </a:cubicBezTo>
                <a:lnTo>
                  <a:pt x="120" y="6609"/>
                </a:lnTo>
                <a:cubicBezTo>
                  <a:pt x="120" y="6621"/>
                  <a:pt x="120" y="6632"/>
                  <a:pt x="96" y="6656"/>
                </a:cubicBezTo>
                <a:lnTo>
                  <a:pt x="96" y="6680"/>
                </a:lnTo>
                <a:cubicBezTo>
                  <a:pt x="96" y="6692"/>
                  <a:pt x="96" y="6716"/>
                  <a:pt x="84" y="6728"/>
                </a:cubicBezTo>
                <a:lnTo>
                  <a:pt x="84" y="6751"/>
                </a:lnTo>
                <a:lnTo>
                  <a:pt x="84" y="6799"/>
                </a:lnTo>
                <a:lnTo>
                  <a:pt x="84" y="6811"/>
                </a:lnTo>
                <a:lnTo>
                  <a:pt x="84" y="6847"/>
                </a:lnTo>
                <a:lnTo>
                  <a:pt x="84" y="6894"/>
                </a:lnTo>
                <a:lnTo>
                  <a:pt x="84" y="6906"/>
                </a:lnTo>
                <a:lnTo>
                  <a:pt x="84" y="6930"/>
                </a:lnTo>
                <a:lnTo>
                  <a:pt x="84" y="6966"/>
                </a:lnTo>
                <a:lnTo>
                  <a:pt x="84" y="6978"/>
                </a:lnTo>
                <a:lnTo>
                  <a:pt x="84" y="6990"/>
                </a:lnTo>
                <a:lnTo>
                  <a:pt x="84" y="7049"/>
                </a:lnTo>
                <a:lnTo>
                  <a:pt x="84" y="7073"/>
                </a:lnTo>
                <a:lnTo>
                  <a:pt x="84" y="7085"/>
                </a:lnTo>
                <a:cubicBezTo>
                  <a:pt x="1" y="8704"/>
                  <a:pt x="1263" y="10109"/>
                  <a:pt x="2882" y="10180"/>
                </a:cubicBezTo>
                <a:lnTo>
                  <a:pt x="3037" y="10180"/>
                </a:lnTo>
                <a:cubicBezTo>
                  <a:pt x="3168" y="10180"/>
                  <a:pt x="3287" y="10169"/>
                  <a:pt x="3418" y="10145"/>
                </a:cubicBezTo>
                <a:lnTo>
                  <a:pt x="8335" y="10145"/>
                </a:lnTo>
                <a:cubicBezTo>
                  <a:pt x="8419" y="10145"/>
                  <a:pt x="8490" y="10073"/>
                  <a:pt x="8490" y="9990"/>
                </a:cubicBezTo>
                <a:lnTo>
                  <a:pt x="8490" y="9133"/>
                </a:lnTo>
                <a:lnTo>
                  <a:pt x="9776" y="9133"/>
                </a:lnTo>
                <a:cubicBezTo>
                  <a:pt x="9859" y="9133"/>
                  <a:pt x="9943" y="9061"/>
                  <a:pt x="9943" y="8978"/>
                </a:cubicBezTo>
                <a:lnTo>
                  <a:pt x="9824" y="2072"/>
                </a:lnTo>
                <a:lnTo>
                  <a:pt x="9824" y="2037"/>
                </a:lnTo>
                <a:lnTo>
                  <a:pt x="9824" y="2025"/>
                </a:lnTo>
                <a:cubicBezTo>
                  <a:pt x="9824" y="2025"/>
                  <a:pt x="9824" y="2013"/>
                  <a:pt x="9800" y="2013"/>
                </a:cubicBezTo>
                <a:cubicBezTo>
                  <a:pt x="9800" y="2013"/>
                  <a:pt x="9800" y="1989"/>
                  <a:pt x="9788" y="1989"/>
                </a:cubicBezTo>
                <a:lnTo>
                  <a:pt x="9776" y="1977"/>
                </a:lnTo>
                <a:lnTo>
                  <a:pt x="7835" y="36"/>
                </a:lnTo>
                <a:lnTo>
                  <a:pt x="7823" y="24"/>
                </a:lnTo>
                <a:lnTo>
                  <a:pt x="7811" y="13"/>
                </a:lnTo>
                <a:cubicBezTo>
                  <a:pt x="7811" y="13"/>
                  <a:pt x="7799" y="13"/>
                  <a:pt x="7799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83550" tIns="183550" rIns="183550" bIns="183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" name="Google Shape;12300;p94">
            <a:extLst>
              <a:ext uri="{FF2B5EF4-FFF2-40B4-BE49-F238E27FC236}">
                <a16:creationId xmlns:a16="http://schemas.microsoft.com/office/drawing/2014/main" id="{77AC7470-A223-8150-807A-4A74F2A705E4}"/>
              </a:ext>
            </a:extLst>
          </p:cNvPr>
          <p:cNvGrpSpPr/>
          <p:nvPr/>
        </p:nvGrpSpPr>
        <p:grpSpPr>
          <a:xfrm>
            <a:off x="623460" y="3844279"/>
            <a:ext cx="423538" cy="491628"/>
            <a:chOff x="1394741" y="1512061"/>
            <a:chExt cx="252444" cy="351722"/>
          </a:xfrm>
          <a:solidFill>
            <a:schemeClr val="bg2"/>
          </a:solidFill>
        </p:grpSpPr>
        <p:sp>
          <p:nvSpPr>
            <p:cNvPr id="14" name="Google Shape;12301;p94">
              <a:extLst>
                <a:ext uri="{FF2B5EF4-FFF2-40B4-BE49-F238E27FC236}">
                  <a16:creationId xmlns:a16="http://schemas.microsoft.com/office/drawing/2014/main" id="{13685EEA-F1B2-6761-9FCC-5FF5CC2B2C87}"/>
                </a:ext>
              </a:extLst>
            </p:cNvPr>
            <p:cNvSpPr/>
            <p:nvPr/>
          </p:nvSpPr>
          <p:spPr>
            <a:xfrm>
              <a:off x="1394741" y="1512061"/>
              <a:ext cx="252444" cy="351722"/>
            </a:xfrm>
            <a:custGeom>
              <a:avLst/>
              <a:gdLst/>
              <a:ahLst/>
              <a:cxnLst/>
              <a:rect l="l" t="t" r="r" b="b"/>
              <a:pathLst>
                <a:path w="7931" h="11050" extrusionOk="0">
                  <a:moveTo>
                    <a:pt x="3942" y="334"/>
                  </a:moveTo>
                  <a:cubicBezTo>
                    <a:pt x="4132" y="334"/>
                    <a:pt x="4299" y="429"/>
                    <a:pt x="4406" y="595"/>
                  </a:cubicBezTo>
                  <a:cubicBezTo>
                    <a:pt x="4430" y="643"/>
                    <a:pt x="4490" y="667"/>
                    <a:pt x="4537" y="667"/>
                  </a:cubicBezTo>
                  <a:lnTo>
                    <a:pt x="5144" y="667"/>
                  </a:lnTo>
                  <a:cubicBezTo>
                    <a:pt x="5252" y="667"/>
                    <a:pt x="5323" y="762"/>
                    <a:pt x="5323" y="846"/>
                  </a:cubicBezTo>
                  <a:lnTo>
                    <a:pt x="5323" y="1381"/>
                  </a:lnTo>
                  <a:lnTo>
                    <a:pt x="2549" y="1381"/>
                  </a:lnTo>
                  <a:lnTo>
                    <a:pt x="2549" y="846"/>
                  </a:lnTo>
                  <a:lnTo>
                    <a:pt x="2561" y="846"/>
                  </a:lnTo>
                  <a:cubicBezTo>
                    <a:pt x="2561" y="750"/>
                    <a:pt x="2644" y="667"/>
                    <a:pt x="2739" y="667"/>
                  </a:cubicBezTo>
                  <a:lnTo>
                    <a:pt x="3347" y="667"/>
                  </a:lnTo>
                  <a:cubicBezTo>
                    <a:pt x="3406" y="667"/>
                    <a:pt x="3454" y="643"/>
                    <a:pt x="3478" y="595"/>
                  </a:cubicBezTo>
                  <a:cubicBezTo>
                    <a:pt x="3573" y="429"/>
                    <a:pt x="3751" y="334"/>
                    <a:pt x="3942" y="334"/>
                  </a:cubicBezTo>
                  <a:close/>
                  <a:moveTo>
                    <a:pt x="7228" y="1000"/>
                  </a:moveTo>
                  <a:cubicBezTo>
                    <a:pt x="7430" y="1000"/>
                    <a:pt x="7585" y="1167"/>
                    <a:pt x="7585" y="1357"/>
                  </a:cubicBezTo>
                  <a:lnTo>
                    <a:pt x="7585" y="10347"/>
                  </a:lnTo>
                  <a:cubicBezTo>
                    <a:pt x="7585" y="10537"/>
                    <a:pt x="7430" y="10704"/>
                    <a:pt x="7228" y="10704"/>
                  </a:cubicBezTo>
                  <a:lnTo>
                    <a:pt x="668" y="10704"/>
                  </a:lnTo>
                  <a:cubicBezTo>
                    <a:pt x="477" y="10704"/>
                    <a:pt x="310" y="10537"/>
                    <a:pt x="310" y="10347"/>
                  </a:cubicBezTo>
                  <a:lnTo>
                    <a:pt x="310" y="1357"/>
                  </a:lnTo>
                  <a:cubicBezTo>
                    <a:pt x="310" y="1155"/>
                    <a:pt x="477" y="1000"/>
                    <a:pt x="668" y="1000"/>
                  </a:cubicBezTo>
                  <a:lnTo>
                    <a:pt x="2227" y="1000"/>
                  </a:lnTo>
                  <a:lnTo>
                    <a:pt x="2227" y="1536"/>
                  </a:lnTo>
                  <a:cubicBezTo>
                    <a:pt x="2227" y="1619"/>
                    <a:pt x="2311" y="1703"/>
                    <a:pt x="2394" y="1703"/>
                  </a:cubicBezTo>
                  <a:lnTo>
                    <a:pt x="5502" y="1703"/>
                  </a:lnTo>
                  <a:cubicBezTo>
                    <a:pt x="5597" y="1703"/>
                    <a:pt x="5668" y="1619"/>
                    <a:pt x="5668" y="1536"/>
                  </a:cubicBezTo>
                  <a:lnTo>
                    <a:pt x="5668" y="1000"/>
                  </a:lnTo>
                  <a:close/>
                  <a:moveTo>
                    <a:pt x="3954" y="0"/>
                  </a:moveTo>
                  <a:cubicBezTo>
                    <a:pt x="3692" y="0"/>
                    <a:pt x="3442" y="131"/>
                    <a:pt x="3275" y="345"/>
                  </a:cubicBezTo>
                  <a:lnTo>
                    <a:pt x="2751" y="345"/>
                  </a:lnTo>
                  <a:cubicBezTo>
                    <a:pt x="2525" y="345"/>
                    <a:pt x="2335" y="488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8"/>
                    <a:pt x="1" y="1369"/>
                  </a:cubicBezTo>
                  <a:lnTo>
                    <a:pt x="1" y="10359"/>
                  </a:lnTo>
                  <a:cubicBezTo>
                    <a:pt x="1" y="10728"/>
                    <a:pt x="299" y="11049"/>
                    <a:pt x="680" y="11049"/>
                  </a:cubicBezTo>
                  <a:lnTo>
                    <a:pt x="7252" y="11049"/>
                  </a:lnTo>
                  <a:cubicBezTo>
                    <a:pt x="7621" y="11049"/>
                    <a:pt x="7930" y="10751"/>
                    <a:pt x="7930" y="10359"/>
                  </a:cubicBezTo>
                  <a:lnTo>
                    <a:pt x="7930" y="1369"/>
                  </a:lnTo>
                  <a:cubicBezTo>
                    <a:pt x="7919" y="1000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488"/>
                    <a:pt x="5383" y="345"/>
                    <a:pt x="5168" y="345"/>
                  </a:cubicBezTo>
                  <a:lnTo>
                    <a:pt x="4644" y="345"/>
                  </a:lnTo>
                  <a:cubicBezTo>
                    <a:pt x="4478" y="131"/>
                    <a:pt x="4228" y="0"/>
                    <a:pt x="3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302;p94">
              <a:extLst>
                <a:ext uri="{FF2B5EF4-FFF2-40B4-BE49-F238E27FC236}">
                  <a16:creationId xmlns:a16="http://schemas.microsoft.com/office/drawing/2014/main" id="{064CD733-89FB-39D9-1E42-4CED34206221}"/>
                </a:ext>
              </a:extLst>
            </p:cNvPr>
            <p:cNvSpPr/>
            <p:nvPr/>
          </p:nvSpPr>
          <p:spPr>
            <a:xfrm>
              <a:off x="1515282" y="1534024"/>
              <a:ext cx="10631" cy="10281"/>
            </a:xfrm>
            <a:custGeom>
              <a:avLst/>
              <a:gdLst/>
              <a:ahLst/>
              <a:cxnLst/>
              <a:rect l="l" t="t" r="r" b="b"/>
              <a:pathLst>
                <a:path w="334" h="323" extrusionOk="0">
                  <a:moveTo>
                    <a:pt x="167" y="1"/>
                  </a:moveTo>
                  <a:cubicBezTo>
                    <a:pt x="83" y="1"/>
                    <a:pt x="0" y="72"/>
                    <a:pt x="0" y="156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262" y="322"/>
                    <a:pt x="333" y="251"/>
                    <a:pt x="333" y="156"/>
                  </a:cubicBezTo>
                  <a:cubicBezTo>
                    <a:pt x="322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303;p94">
              <a:extLst>
                <a:ext uri="{FF2B5EF4-FFF2-40B4-BE49-F238E27FC236}">
                  <a16:creationId xmlns:a16="http://schemas.microsoft.com/office/drawing/2014/main" id="{8A71B25F-1269-548C-4CC6-0F31F2DAC5BD}"/>
                </a:ext>
              </a:extLst>
            </p:cNvPr>
            <p:cNvSpPr/>
            <p:nvPr/>
          </p:nvSpPr>
          <p:spPr>
            <a:xfrm>
              <a:off x="1415972" y="1556018"/>
              <a:ext cx="208486" cy="274406"/>
            </a:xfrm>
            <a:custGeom>
              <a:avLst/>
              <a:gdLst/>
              <a:ahLst/>
              <a:cxnLst/>
              <a:rect l="l" t="t" r="r" b="b"/>
              <a:pathLst>
                <a:path w="6550" h="8621" extrusionOk="0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8454"/>
                  </a:lnTo>
                  <a:cubicBezTo>
                    <a:pt x="1" y="8549"/>
                    <a:pt x="72" y="8620"/>
                    <a:pt x="167" y="8620"/>
                  </a:cubicBezTo>
                  <a:lnTo>
                    <a:pt x="6382" y="8620"/>
                  </a:lnTo>
                  <a:cubicBezTo>
                    <a:pt x="6478" y="8620"/>
                    <a:pt x="6549" y="8549"/>
                    <a:pt x="6549" y="8454"/>
                  </a:cubicBezTo>
                  <a:lnTo>
                    <a:pt x="6549" y="167"/>
                  </a:lnTo>
                  <a:cubicBezTo>
                    <a:pt x="6549" y="60"/>
                    <a:pt x="6478" y="0"/>
                    <a:pt x="6382" y="0"/>
                  </a:cubicBezTo>
                  <a:lnTo>
                    <a:pt x="5525" y="0"/>
                  </a:lnTo>
                  <a:cubicBezTo>
                    <a:pt x="5430" y="0"/>
                    <a:pt x="5358" y="84"/>
                    <a:pt x="5358" y="167"/>
                  </a:cubicBezTo>
                  <a:cubicBezTo>
                    <a:pt x="5358" y="262"/>
                    <a:pt x="5430" y="334"/>
                    <a:pt x="5525" y="334"/>
                  </a:cubicBezTo>
                  <a:lnTo>
                    <a:pt x="6228" y="334"/>
                  </a:lnTo>
                  <a:lnTo>
                    <a:pt x="6228" y="8311"/>
                  </a:lnTo>
                  <a:lnTo>
                    <a:pt x="322" y="8311"/>
                  </a:lnTo>
                  <a:lnTo>
                    <a:pt x="322" y="334"/>
                  </a:lnTo>
                  <a:lnTo>
                    <a:pt x="1025" y="334"/>
                  </a:lnTo>
                  <a:cubicBezTo>
                    <a:pt x="1120" y="334"/>
                    <a:pt x="1191" y="262"/>
                    <a:pt x="1191" y="167"/>
                  </a:cubicBezTo>
                  <a:cubicBezTo>
                    <a:pt x="1191" y="84"/>
                    <a:pt x="1120" y="0"/>
                    <a:pt x="1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304;p94">
              <a:extLst>
                <a:ext uri="{FF2B5EF4-FFF2-40B4-BE49-F238E27FC236}">
                  <a16:creationId xmlns:a16="http://schemas.microsoft.com/office/drawing/2014/main" id="{D445820C-CEF2-E0AD-8729-74C59E71C541}"/>
                </a:ext>
              </a:extLst>
            </p:cNvPr>
            <p:cNvSpPr/>
            <p:nvPr/>
          </p:nvSpPr>
          <p:spPr>
            <a:xfrm>
              <a:off x="1449330" y="1665927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33"/>
                  </a:moveTo>
                  <a:cubicBezTo>
                    <a:pt x="608" y="333"/>
                    <a:pt x="679" y="417"/>
                    <a:pt x="679" y="512"/>
                  </a:cubicBezTo>
                  <a:cubicBezTo>
                    <a:pt x="679" y="595"/>
                    <a:pt x="608" y="691"/>
                    <a:pt x="500" y="691"/>
                  </a:cubicBezTo>
                  <a:cubicBezTo>
                    <a:pt x="393" y="691"/>
                    <a:pt x="322" y="595"/>
                    <a:pt x="322" y="512"/>
                  </a:cubicBezTo>
                  <a:cubicBezTo>
                    <a:pt x="322" y="417"/>
                    <a:pt x="417" y="333"/>
                    <a:pt x="500" y="333"/>
                  </a:cubicBezTo>
                  <a:close/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cubicBezTo>
                    <a:pt x="0" y="786"/>
                    <a:pt x="215" y="1012"/>
                    <a:pt x="500" y="1012"/>
                  </a:cubicBezTo>
                  <a:cubicBezTo>
                    <a:pt x="786" y="1012"/>
                    <a:pt x="1001" y="786"/>
                    <a:pt x="1001" y="512"/>
                  </a:cubicBezTo>
                  <a:cubicBezTo>
                    <a:pt x="1001" y="226"/>
                    <a:pt x="786" y="0"/>
                    <a:pt x="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305;p94">
              <a:extLst>
                <a:ext uri="{FF2B5EF4-FFF2-40B4-BE49-F238E27FC236}">
                  <a16:creationId xmlns:a16="http://schemas.microsoft.com/office/drawing/2014/main" id="{110B9FF9-9D38-2F02-CDC1-38FB2C44A061}"/>
                </a:ext>
              </a:extLst>
            </p:cNvPr>
            <p:cNvSpPr/>
            <p:nvPr/>
          </p:nvSpPr>
          <p:spPr>
            <a:xfrm>
              <a:off x="1449330" y="1715168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393" y="703"/>
                    <a:pt x="322" y="608"/>
                    <a:pt x="322" y="525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15" y="1"/>
                    <a:pt x="0" y="227"/>
                    <a:pt x="0" y="513"/>
                  </a:cubicBezTo>
                  <a:cubicBezTo>
                    <a:pt x="0" y="787"/>
                    <a:pt x="215" y="1013"/>
                    <a:pt x="500" y="1013"/>
                  </a:cubicBezTo>
                  <a:cubicBezTo>
                    <a:pt x="786" y="1013"/>
                    <a:pt x="1001" y="787"/>
                    <a:pt x="1001" y="513"/>
                  </a:cubicBezTo>
                  <a:cubicBezTo>
                    <a:pt x="1001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06;p94">
              <a:extLst>
                <a:ext uri="{FF2B5EF4-FFF2-40B4-BE49-F238E27FC236}">
                  <a16:creationId xmlns:a16="http://schemas.microsoft.com/office/drawing/2014/main" id="{EF2189B6-F9EC-CBBA-136A-14B38E4BA2CA}"/>
                </a:ext>
              </a:extLst>
            </p:cNvPr>
            <p:cNvSpPr/>
            <p:nvPr/>
          </p:nvSpPr>
          <p:spPr>
            <a:xfrm>
              <a:off x="1449330" y="1765205"/>
              <a:ext cx="31862" cy="3186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1"/>
                  </a:cubicBezTo>
                  <a:cubicBezTo>
                    <a:pt x="691" y="608"/>
                    <a:pt x="608" y="679"/>
                    <a:pt x="500" y="679"/>
                  </a:cubicBezTo>
                  <a:cubicBezTo>
                    <a:pt x="393" y="679"/>
                    <a:pt x="322" y="584"/>
                    <a:pt x="322" y="501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5" y="1"/>
                    <a:pt x="0" y="215"/>
                    <a:pt x="0" y="501"/>
                  </a:cubicBezTo>
                  <a:cubicBezTo>
                    <a:pt x="0" y="786"/>
                    <a:pt x="215" y="1001"/>
                    <a:pt x="500" y="1001"/>
                  </a:cubicBezTo>
                  <a:cubicBezTo>
                    <a:pt x="786" y="1001"/>
                    <a:pt x="1001" y="786"/>
                    <a:pt x="1001" y="501"/>
                  </a:cubicBezTo>
                  <a:cubicBezTo>
                    <a:pt x="1001" y="215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307;p94">
              <a:extLst>
                <a:ext uri="{FF2B5EF4-FFF2-40B4-BE49-F238E27FC236}">
                  <a16:creationId xmlns:a16="http://schemas.microsoft.com/office/drawing/2014/main" id="{3F5D6BDD-B1E9-6386-D7D9-EF4D52003CE9}"/>
                </a:ext>
              </a:extLst>
            </p:cNvPr>
            <p:cNvSpPr/>
            <p:nvPr/>
          </p:nvSpPr>
          <p:spPr>
            <a:xfrm>
              <a:off x="1493287" y="1665927"/>
              <a:ext cx="59522" cy="10631"/>
            </a:xfrm>
            <a:custGeom>
              <a:avLst/>
              <a:gdLst/>
              <a:ahLst/>
              <a:cxnLst/>
              <a:rect l="l" t="t" r="r" b="b"/>
              <a:pathLst>
                <a:path w="1870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03" y="333"/>
                  </a:lnTo>
                  <a:cubicBezTo>
                    <a:pt x="1798" y="333"/>
                    <a:pt x="1870" y="262"/>
                    <a:pt x="1870" y="167"/>
                  </a:cubicBezTo>
                  <a:cubicBezTo>
                    <a:pt x="1870" y="72"/>
                    <a:pt x="1798" y="0"/>
                    <a:pt x="1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08;p94">
              <a:extLst>
                <a:ext uri="{FF2B5EF4-FFF2-40B4-BE49-F238E27FC236}">
                  <a16:creationId xmlns:a16="http://schemas.microsoft.com/office/drawing/2014/main" id="{562F81BB-3FBF-D804-2B82-83DE898B4142}"/>
                </a:ext>
              </a:extLst>
            </p:cNvPr>
            <p:cNvSpPr/>
            <p:nvPr/>
          </p:nvSpPr>
          <p:spPr>
            <a:xfrm>
              <a:off x="1493287" y="1687890"/>
              <a:ext cx="98578" cy="10281"/>
            </a:xfrm>
            <a:custGeom>
              <a:avLst/>
              <a:gdLst/>
              <a:ahLst/>
              <a:cxnLst/>
              <a:rect l="l" t="t" r="r" b="b"/>
              <a:pathLst>
                <a:path w="3097" h="323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1"/>
                    <a:pt x="3096" y="167"/>
                  </a:cubicBezTo>
                  <a:cubicBezTo>
                    <a:pt x="3096" y="72"/>
                    <a:pt x="3025" y="1"/>
                    <a:pt x="29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09;p94">
              <a:extLst>
                <a:ext uri="{FF2B5EF4-FFF2-40B4-BE49-F238E27FC236}">
                  <a16:creationId xmlns:a16="http://schemas.microsoft.com/office/drawing/2014/main" id="{3D5D4BCF-9583-467A-AFC8-1667A9D381D7}"/>
                </a:ext>
              </a:extLst>
            </p:cNvPr>
            <p:cNvSpPr/>
            <p:nvPr/>
          </p:nvSpPr>
          <p:spPr>
            <a:xfrm>
              <a:off x="1493287" y="1715168"/>
              <a:ext cx="59522" cy="10663"/>
            </a:xfrm>
            <a:custGeom>
              <a:avLst/>
              <a:gdLst/>
              <a:ahLst/>
              <a:cxnLst/>
              <a:rect l="l" t="t" r="r" b="b"/>
              <a:pathLst>
                <a:path w="1870" h="335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03" y="334"/>
                  </a:lnTo>
                  <a:cubicBezTo>
                    <a:pt x="1798" y="334"/>
                    <a:pt x="1870" y="263"/>
                    <a:pt x="1870" y="168"/>
                  </a:cubicBezTo>
                  <a:cubicBezTo>
                    <a:pt x="1870" y="84"/>
                    <a:pt x="1798" y="1"/>
                    <a:pt x="17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10;p94">
              <a:extLst>
                <a:ext uri="{FF2B5EF4-FFF2-40B4-BE49-F238E27FC236}">
                  <a16:creationId xmlns:a16="http://schemas.microsoft.com/office/drawing/2014/main" id="{2729DCD0-B13B-1DE7-650E-039E281D4A4A}"/>
                </a:ext>
              </a:extLst>
            </p:cNvPr>
            <p:cNvSpPr/>
            <p:nvPr/>
          </p:nvSpPr>
          <p:spPr>
            <a:xfrm>
              <a:off x="1493287" y="1737545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11;p94">
              <a:extLst>
                <a:ext uri="{FF2B5EF4-FFF2-40B4-BE49-F238E27FC236}">
                  <a16:creationId xmlns:a16="http://schemas.microsoft.com/office/drawing/2014/main" id="{794EE907-F669-5A6C-B9F8-5B8A543C53A0}"/>
                </a:ext>
              </a:extLst>
            </p:cNvPr>
            <p:cNvSpPr/>
            <p:nvPr/>
          </p:nvSpPr>
          <p:spPr>
            <a:xfrm>
              <a:off x="1493287" y="1765205"/>
              <a:ext cx="59522" cy="10249"/>
            </a:xfrm>
            <a:custGeom>
              <a:avLst/>
              <a:gdLst/>
              <a:ahLst/>
              <a:cxnLst/>
              <a:rect l="l" t="t" r="r" b="b"/>
              <a:pathLst>
                <a:path w="1870" h="322" extrusionOk="0">
                  <a:moveTo>
                    <a:pt x="167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03" y="322"/>
                  </a:lnTo>
                  <a:cubicBezTo>
                    <a:pt x="1798" y="322"/>
                    <a:pt x="1870" y="251"/>
                    <a:pt x="1870" y="155"/>
                  </a:cubicBezTo>
                  <a:cubicBezTo>
                    <a:pt x="1870" y="72"/>
                    <a:pt x="1798" y="1"/>
                    <a:pt x="17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12;p94">
              <a:extLst>
                <a:ext uri="{FF2B5EF4-FFF2-40B4-BE49-F238E27FC236}">
                  <a16:creationId xmlns:a16="http://schemas.microsoft.com/office/drawing/2014/main" id="{53796F2F-87C2-3D4F-C51D-B116993836F1}"/>
                </a:ext>
              </a:extLst>
            </p:cNvPr>
            <p:cNvSpPr/>
            <p:nvPr/>
          </p:nvSpPr>
          <p:spPr>
            <a:xfrm>
              <a:off x="1493287" y="1786818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13;p94">
              <a:extLst>
                <a:ext uri="{FF2B5EF4-FFF2-40B4-BE49-F238E27FC236}">
                  <a16:creationId xmlns:a16="http://schemas.microsoft.com/office/drawing/2014/main" id="{D6CE6AC7-A08C-08C6-D4D5-EFFB8091A93D}"/>
                </a:ext>
              </a:extLst>
            </p:cNvPr>
            <p:cNvSpPr/>
            <p:nvPr/>
          </p:nvSpPr>
          <p:spPr>
            <a:xfrm>
              <a:off x="1493287" y="1583679"/>
              <a:ext cx="98578" cy="10249"/>
            </a:xfrm>
            <a:custGeom>
              <a:avLst/>
              <a:gdLst/>
              <a:ahLst/>
              <a:cxnLst/>
              <a:rect l="l" t="t" r="r" b="b"/>
              <a:pathLst>
                <a:path w="3097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14;p94">
              <a:extLst>
                <a:ext uri="{FF2B5EF4-FFF2-40B4-BE49-F238E27FC236}">
                  <a16:creationId xmlns:a16="http://schemas.microsoft.com/office/drawing/2014/main" id="{F6C1F715-EA45-AB54-17FD-D1855C1980E4}"/>
                </a:ext>
              </a:extLst>
            </p:cNvPr>
            <p:cNvSpPr/>
            <p:nvPr/>
          </p:nvSpPr>
          <p:spPr>
            <a:xfrm>
              <a:off x="1449330" y="1632951"/>
              <a:ext cx="142535" cy="10249"/>
            </a:xfrm>
            <a:custGeom>
              <a:avLst/>
              <a:gdLst/>
              <a:ahLst/>
              <a:cxnLst/>
              <a:rect l="l" t="t" r="r" b="b"/>
              <a:pathLst>
                <a:path w="4478" h="322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4310" y="322"/>
                  </a:lnTo>
                  <a:cubicBezTo>
                    <a:pt x="4406" y="322"/>
                    <a:pt x="4477" y="250"/>
                    <a:pt x="4477" y="167"/>
                  </a:cubicBezTo>
                  <a:cubicBezTo>
                    <a:pt x="4477" y="72"/>
                    <a:pt x="4406" y="0"/>
                    <a:pt x="4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15;p94">
              <a:extLst>
                <a:ext uri="{FF2B5EF4-FFF2-40B4-BE49-F238E27FC236}">
                  <a16:creationId xmlns:a16="http://schemas.microsoft.com/office/drawing/2014/main" id="{28B2EE91-1B42-EAD2-0983-A77904DC4602}"/>
                </a:ext>
              </a:extLst>
            </p:cNvPr>
            <p:cNvSpPr/>
            <p:nvPr/>
          </p:nvSpPr>
          <p:spPr>
            <a:xfrm>
              <a:off x="1493287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679" y="333"/>
                  </a:lnTo>
                  <a:cubicBezTo>
                    <a:pt x="774" y="333"/>
                    <a:pt x="846" y="262"/>
                    <a:pt x="846" y="167"/>
                  </a:cubicBezTo>
                  <a:cubicBezTo>
                    <a:pt x="846" y="83"/>
                    <a:pt x="774" y="0"/>
                    <a:pt x="6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316;p94">
              <a:extLst>
                <a:ext uri="{FF2B5EF4-FFF2-40B4-BE49-F238E27FC236}">
                  <a16:creationId xmlns:a16="http://schemas.microsoft.com/office/drawing/2014/main" id="{F1B90D86-A669-DD2D-8A84-CB2F566750A9}"/>
                </a:ext>
              </a:extLst>
            </p:cNvPr>
            <p:cNvSpPr/>
            <p:nvPr/>
          </p:nvSpPr>
          <p:spPr>
            <a:xfrm>
              <a:off x="1531579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1" y="0"/>
                    <a:pt x="0" y="83"/>
                    <a:pt x="0" y="167"/>
                  </a:cubicBezTo>
                  <a:cubicBezTo>
                    <a:pt x="0" y="262"/>
                    <a:pt x="71" y="333"/>
                    <a:pt x="167" y="333"/>
                  </a:cubicBezTo>
                  <a:lnTo>
                    <a:pt x="691" y="333"/>
                  </a:lnTo>
                  <a:cubicBezTo>
                    <a:pt x="774" y="333"/>
                    <a:pt x="845" y="262"/>
                    <a:pt x="845" y="167"/>
                  </a:cubicBezTo>
                  <a:cubicBezTo>
                    <a:pt x="845" y="83"/>
                    <a:pt x="774" y="0"/>
                    <a:pt x="6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17;p94">
              <a:extLst>
                <a:ext uri="{FF2B5EF4-FFF2-40B4-BE49-F238E27FC236}">
                  <a16:creationId xmlns:a16="http://schemas.microsoft.com/office/drawing/2014/main" id="{D7F080E1-BB3D-FF1C-00CE-645CF8D9485A}"/>
                </a:ext>
              </a:extLst>
            </p:cNvPr>
            <p:cNvSpPr/>
            <p:nvPr/>
          </p:nvSpPr>
          <p:spPr>
            <a:xfrm>
              <a:off x="1449712" y="1583679"/>
              <a:ext cx="32244" cy="32244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79" y="310"/>
                  </a:moveTo>
                  <a:lnTo>
                    <a:pt x="679" y="679"/>
                  </a:lnTo>
                  <a:lnTo>
                    <a:pt x="310" y="679"/>
                  </a:lnTo>
                  <a:lnTo>
                    <a:pt x="310" y="310"/>
                  </a:lnTo>
                  <a:close/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6"/>
                  </a:cubicBezTo>
                  <a:lnTo>
                    <a:pt x="1012" y="167"/>
                  </a:lnTo>
                  <a:cubicBezTo>
                    <a:pt x="989" y="60"/>
                    <a:pt x="941" y="0"/>
                    <a:pt x="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83550" tIns="183550" rIns="183550" bIns="1835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8590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9C69D69D-0453-CF49-AB9B-2FC717C6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>
            <a:extLst>
              <a:ext uri="{FF2B5EF4-FFF2-40B4-BE49-F238E27FC236}">
                <a16:creationId xmlns:a16="http://schemas.microsoft.com/office/drawing/2014/main" id="{A089A20E-1FA2-FB71-EDC1-92C8E1897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9250" y="238005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Explainable AI </a:t>
            </a:r>
            <a:endParaRPr dirty="0"/>
          </a:p>
        </p:txBody>
      </p:sp>
      <p:sp>
        <p:nvSpPr>
          <p:cNvPr id="251" name="Google Shape;251;p45">
            <a:extLst>
              <a:ext uri="{FF2B5EF4-FFF2-40B4-BE49-F238E27FC236}">
                <a16:creationId xmlns:a16="http://schemas.microsoft.com/office/drawing/2014/main" id="{96996BA4-4556-DCEF-3CF4-9A7F2234746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52900" y="1062325"/>
            <a:ext cx="4360200" cy="12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52" name="Google Shape;252;p45">
            <a:extLst>
              <a:ext uri="{FF2B5EF4-FFF2-40B4-BE49-F238E27FC236}">
                <a16:creationId xmlns:a16="http://schemas.microsoft.com/office/drawing/2014/main" id="{BD2A018A-9C57-ACC4-383F-555E9069B2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59250" y="3221850"/>
            <a:ext cx="4650766" cy="423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 to Act</a:t>
            </a:r>
            <a:endParaRPr dirty="0"/>
          </a:p>
        </p:txBody>
      </p:sp>
      <p:pic>
        <p:nvPicPr>
          <p:cNvPr id="253" name="Google Shape;253;p45">
            <a:extLst>
              <a:ext uri="{FF2B5EF4-FFF2-40B4-BE49-F238E27FC236}">
                <a16:creationId xmlns:a16="http://schemas.microsoft.com/office/drawing/2014/main" id="{451251D6-2779-4A0C-1502-5B4B5733BA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336" r="14343"/>
          <a:stretch/>
        </p:blipFill>
        <p:spPr>
          <a:xfrm>
            <a:off x="793150" y="348250"/>
            <a:ext cx="3023699" cy="4260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90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>
          <a:extLst>
            <a:ext uri="{FF2B5EF4-FFF2-40B4-BE49-F238E27FC236}">
              <a16:creationId xmlns:a16="http://schemas.microsoft.com/office/drawing/2014/main" id="{D14E9026-F2A7-D574-9E3D-DFFA6597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4">
            <a:extLst>
              <a:ext uri="{FF2B5EF4-FFF2-40B4-BE49-F238E27FC236}">
                <a16:creationId xmlns:a16="http://schemas.microsoft.com/office/drawing/2014/main" id="{FAD52FDE-B814-64C9-3887-061DF0B815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EXPLAINABLE IA &amp; TRANSPARENCY</a:t>
            </a:r>
            <a:endParaRPr b="1" dirty="0"/>
          </a:p>
        </p:txBody>
      </p:sp>
      <p:sp>
        <p:nvSpPr>
          <p:cNvPr id="747" name="Google Shape;747;p74">
            <a:extLst>
              <a:ext uri="{FF2B5EF4-FFF2-40B4-BE49-F238E27FC236}">
                <a16:creationId xmlns:a16="http://schemas.microsoft.com/office/drawing/2014/main" id="{D1E23163-4277-6343-E327-C2A157EAAD5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49184" y="1294075"/>
            <a:ext cx="3242400" cy="4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 dirty="0">
                <a:latin typeface="Electrolize"/>
                <a:ea typeface="Electrolize"/>
                <a:cs typeface="Electrolize"/>
                <a:sym typeface="Electrolize"/>
              </a:rPr>
              <a:t>END OF “BLACK BOX”</a:t>
            </a:r>
            <a:endParaRPr sz="2300" dirty="0">
              <a:latin typeface="Electrolize"/>
              <a:ea typeface="Electrolize"/>
              <a:cs typeface="Electrolize"/>
              <a:sym typeface="Electrolize"/>
            </a:endParaRPr>
          </a:p>
        </p:txBody>
      </p:sp>
      <p:sp>
        <p:nvSpPr>
          <p:cNvPr id="748" name="Google Shape;748;p74">
            <a:extLst>
              <a:ext uri="{FF2B5EF4-FFF2-40B4-BE49-F238E27FC236}">
                <a16:creationId xmlns:a16="http://schemas.microsoft.com/office/drawing/2014/main" id="{18C93846-562E-2A41-CA14-49DA4C30680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49184" y="1725503"/>
            <a:ext cx="2914200" cy="5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US" dirty="0"/>
              <a:t>A solution designed to be fully understandable to our HR managers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/>
              <a:t>Transparent, justifiable, and trustworthy results</a:t>
            </a:r>
            <a:endParaRPr dirty="0"/>
          </a:p>
        </p:txBody>
      </p:sp>
      <p:sp>
        <p:nvSpPr>
          <p:cNvPr id="16" name="Google Shape;747;p74">
            <a:extLst>
              <a:ext uri="{FF2B5EF4-FFF2-40B4-BE49-F238E27FC236}">
                <a16:creationId xmlns:a16="http://schemas.microsoft.com/office/drawing/2014/main" id="{26E12D8A-8EC0-10A6-38DF-0FCA58263200}"/>
              </a:ext>
            </a:extLst>
          </p:cNvPr>
          <p:cNvSpPr txBox="1">
            <a:spLocks/>
          </p:cNvSpPr>
          <p:nvPr/>
        </p:nvSpPr>
        <p:spPr>
          <a:xfrm>
            <a:off x="4712880" y="1294075"/>
            <a:ext cx="32424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Aft>
                <a:spcPts val="1600"/>
              </a:spcAft>
              <a:buFont typeface="Cairo"/>
              <a:buNone/>
            </a:pPr>
            <a:r>
              <a:rPr lang="fr-FR" sz="2300" dirty="0">
                <a:latin typeface="Electrolize"/>
                <a:ea typeface="Electrolize"/>
                <a:cs typeface="Electrolize"/>
                <a:sym typeface="Electrolize"/>
              </a:rPr>
              <a:t>SHAP TECHNOLOGY</a:t>
            </a:r>
          </a:p>
        </p:txBody>
      </p:sp>
      <p:sp>
        <p:nvSpPr>
          <p:cNvPr id="17" name="Google Shape;748;p74">
            <a:extLst>
              <a:ext uri="{FF2B5EF4-FFF2-40B4-BE49-F238E27FC236}">
                <a16:creationId xmlns:a16="http://schemas.microsoft.com/office/drawing/2014/main" id="{498065CB-AA46-C88C-D02E-597541303F71}"/>
              </a:ext>
            </a:extLst>
          </p:cNvPr>
          <p:cNvSpPr txBox="1">
            <a:spLocks/>
          </p:cNvSpPr>
          <p:nvPr/>
        </p:nvSpPr>
        <p:spPr>
          <a:xfrm>
            <a:off x="4712880" y="1725503"/>
            <a:ext cx="2914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85750" indent="-285750">
              <a:spcAft>
                <a:spcPts val="1600"/>
              </a:spcAft>
            </a:pPr>
            <a:r>
              <a:rPr lang="en-US" dirty="0"/>
              <a:t>Detailed analysis of influencing factors for each employee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/>
              <a:t>Clear identification of the “why” (e.g., the exact impact of a low satisfaction score or delays)</a:t>
            </a:r>
          </a:p>
        </p:txBody>
      </p:sp>
      <p:sp>
        <p:nvSpPr>
          <p:cNvPr id="18" name="Google Shape;747;p74">
            <a:extLst>
              <a:ext uri="{FF2B5EF4-FFF2-40B4-BE49-F238E27FC236}">
                <a16:creationId xmlns:a16="http://schemas.microsoft.com/office/drawing/2014/main" id="{A885EAD5-C275-A9F7-2343-1141833A55F2}"/>
              </a:ext>
            </a:extLst>
          </p:cNvPr>
          <p:cNvSpPr txBox="1">
            <a:spLocks/>
          </p:cNvSpPr>
          <p:nvPr/>
        </p:nvSpPr>
        <p:spPr>
          <a:xfrm>
            <a:off x="1049184" y="3436626"/>
            <a:ext cx="32424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>
              <a:spcAft>
                <a:spcPts val="1600"/>
              </a:spcAft>
              <a:buFont typeface="Cairo"/>
              <a:buNone/>
            </a:pPr>
            <a:r>
              <a:rPr lang="fr-FR" sz="2300" dirty="0">
                <a:latin typeface="Electrolize"/>
                <a:ea typeface="Electrolize"/>
                <a:cs typeface="Electrolize"/>
                <a:sym typeface="Electrolize"/>
              </a:rPr>
              <a:t>SUGGESTION ENGINE</a:t>
            </a:r>
          </a:p>
        </p:txBody>
      </p:sp>
      <p:sp>
        <p:nvSpPr>
          <p:cNvPr id="19" name="Google Shape;748;p74">
            <a:extLst>
              <a:ext uri="{FF2B5EF4-FFF2-40B4-BE49-F238E27FC236}">
                <a16:creationId xmlns:a16="http://schemas.microsoft.com/office/drawing/2014/main" id="{0929E67B-94B4-9AF3-BD92-0F1F8FCBB265}"/>
              </a:ext>
            </a:extLst>
          </p:cNvPr>
          <p:cNvSpPr txBox="1">
            <a:spLocks/>
          </p:cNvSpPr>
          <p:nvPr/>
        </p:nvSpPr>
        <p:spPr>
          <a:xfrm>
            <a:off x="1049184" y="3868054"/>
            <a:ext cx="70944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85750" indent="-285750">
              <a:spcAft>
                <a:spcPts val="1600"/>
              </a:spcAft>
            </a:pPr>
            <a:r>
              <a:rPr lang="en-US" dirty="0"/>
              <a:t>Immediate simulation of concrete preventive actions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/>
              <a:t>Guaranteed human oversight: the AI suggests scenarios and the HR manager approves the action</a:t>
            </a:r>
          </a:p>
        </p:txBody>
      </p:sp>
    </p:spTree>
    <p:extLst>
      <p:ext uri="{BB962C8B-B14F-4D97-AF65-F5344CB8AC3E}">
        <p14:creationId xmlns:p14="http://schemas.microsoft.com/office/powerpoint/2010/main" val="15391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>
            <a:spLocks noGrp="1"/>
          </p:cNvSpPr>
          <p:nvPr>
            <p:ph type="subTitle" idx="1"/>
          </p:nvPr>
        </p:nvSpPr>
        <p:spPr>
          <a:xfrm>
            <a:off x="720000" y="3717606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LOWER RECRUITMENT  COSTS </a:t>
            </a:r>
            <a:endParaRPr dirty="0"/>
          </a:p>
        </p:txBody>
      </p:sp>
      <p:sp>
        <p:nvSpPr>
          <p:cNvPr id="296" name="Google Shape;296;p4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CONCLUSION : </a:t>
            </a:r>
            <a:r>
              <a:rPr lang="en" dirty="0"/>
              <a:t>BENEFITS OF OUR SOLUTION</a:t>
            </a:r>
            <a:endParaRPr dirty="0"/>
          </a:p>
        </p:txBody>
      </p:sp>
      <p:sp>
        <p:nvSpPr>
          <p:cNvPr id="297" name="Google Shape;297;p49"/>
          <p:cNvSpPr txBox="1">
            <a:spLocks noGrp="1"/>
          </p:cNvSpPr>
          <p:nvPr>
            <p:ph type="subTitle" idx="5"/>
          </p:nvPr>
        </p:nvSpPr>
        <p:spPr>
          <a:xfrm>
            <a:off x="3400832" y="3676668"/>
            <a:ext cx="2336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PRESERVING PFIZER’s EXPERTISE</a:t>
            </a:r>
            <a:endParaRPr dirty="0"/>
          </a:p>
        </p:txBody>
      </p:sp>
      <p:sp>
        <p:nvSpPr>
          <p:cNvPr id="298" name="Google Shape;298;p49"/>
          <p:cNvSpPr txBox="1">
            <a:spLocks noGrp="1"/>
          </p:cNvSpPr>
          <p:nvPr>
            <p:ph type="subTitle" idx="6"/>
          </p:nvPr>
        </p:nvSpPr>
        <p:spPr>
          <a:xfrm>
            <a:off x="5879062" y="3734547"/>
            <a:ext cx="27516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CUSTOMIZED AND MEASURABLE HR INITITAIVES</a:t>
            </a:r>
            <a:endParaRPr dirty="0"/>
          </a:p>
        </p:txBody>
      </p:sp>
      <p:sp>
        <p:nvSpPr>
          <p:cNvPr id="299" name="Google Shape;299;p49"/>
          <p:cNvSpPr/>
          <p:nvPr/>
        </p:nvSpPr>
        <p:spPr>
          <a:xfrm>
            <a:off x="1518138" y="2044186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9"/>
          <p:cNvSpPr/>
          <p:nvPr/>
        </p:nvSpPr>
        <p:spPr>
          <a:xfrm>
            <a:off x="4201938" y="2044186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9"/>
          <p:cNvSpPr/>
          <p:nvPr/>
        </p:nvSpPr>
        <p:spPr>
          <a:xfrm>
            <a:off x="6885738" y="2044186"/>
            <a:ext cx="740100" cy="740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50;p45">
            <a:extLst>
              <a:ext uri="{FF2B5EF4-FFF2-40B4-BE49-F238E27FC236}">
                <a16:creationId xmlns:a16="http://schemas.microsoft.com/office/drawing/2014/main" id="{24CF5A3A-C4F8-BE36-5853-909B57954611}"/>
              </a:ext>
            </a:extLst>
          </p:cNvPr>
          <p:cNvSpPr txBox="1">
            <a:spLocks/>
          </p:cNvSpPr>
          <p:nvPr/>
        </p:nvSpPr>
        <p:spPr>
          <a:xfrm>
            <a:off x="-291912" y="1964396"/>
            <a:ext cx="4360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pPr algn="ctr"/>
            <a:r>
              <a:rPr lang="fr-FR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6" name="Google Shape;250;p45">
            <a:extLst>
              <a:ext uri="{FF2B5EF4-FFF2-40B4-BE49-F238E27FC236}">
                <a16:creationId xmlns:a16="http://schemas.microsoft.com/office/drawing/2014/main" id="{76E34F3A-18A3-1C8D-2276-1F7B5C4C05BB}"/>
              </a:ext>
            </a:extLst>
          </p:cNvPr>
          <p:cNvSpPr txBox="1">
            <a:spLocks/>
          </p:cNvSpPr>
          <p:nvPr/>
        </p:nvSpPr>
        <p:spPr>
          <a:xfrm>
            <a:off x="2388932" y="1935457"/>
            <a:ext cx="4360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pPr algn="ctr"/>
            <a:r>
              <a:rPr lang="fr-FR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7" name="Google Shape;250;p45">
            <a:extLst>
              <a:ext uri="{FF2B5EF4-FFF2-40B4-BE49-F238E27FC236}">
                <a16:creationId xmlns:a16="http://schemas.microsoft.com/office/drawing/2014/main" id="{6E17256D-8F12-B91E-2672-1DDE6E4E40AF}"/>
              </a:ext>
            </a:extLst>
          </p:cNvPr>
          <p:cNvSpPr txBox="1">
            <a:spLocks/>
          </p:cNvSpPr>
          <p:nvPr/>
        </p:nvSpPr>
        <p:spPr>
          <a:xfrm>
            <a:off x="5069776" y="1964262"/>
            <a:ext cx="43602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ectrolize"/>
              <a:buNone/>
              <a:defRPr sz="35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pPr algn="ctr"/>
            <a:r>
              <a:rPr lang="fr-FR" b="1" dirty="0">
                <a:solidFill>
                  <a:schemeClr val="bg2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 Korean Robotics &amp; AI History Lesson for College by Slidesgo">
  <a:themeElements>
    <a:clrScheme name="Simple Light">
      <a:dk1>
        <a:srgbClr val="434343"/>
      </a:dk1>
      <a:lt1>
        <a:srgbClr val="666666"/>
      </a:lt1>
      <a:dk2>
        <a:srgbClr val="C38382"/>
      </a:dk2>
      <a:lt2>
        <a:srgbClr val="D9A4A3"/>
      </a:lt2>
      <a:accent1>
        <a:srgbClr val="F7C4B1"/>
      </a:accent1>
      <a:accent2>
        <a:srgbClr val="E7A885"/>
      </a:accent2>
      <a:accent3>
        <a:srgbClr val="F2DDC7"/>
      </a:accent3>
      <a:accent4>
        <a:srgbClr val="A0A9B0"/>
      </a:accent4>
      <a:accent5>
        <a:srgbClr val="D0D1D5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PresentationFormat>Affichage à l'écran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Electrolize</vt:lpstr>
      <vt:lpstr>Bebas Neue</vt:lpstr>
      <vt:lpstr>Cairo</vt:lpstr>
      <vt:lpstr>Delius Swash Caps</vt:lpstr>
      <vt:lpstr>South Korean Robotics &amp; AI History Lesson for College by Slidesgo</vt:lpstr>
      <vt:lpstr>PFIZER HR ATTRITION PREDICTOR  RETAINING OUR SCIENTIFIC TALENT</vt:lpstr>
      <vt:lpstr>01</vt:lpstr>
      <vt:lpstr>PROBLEM</vt:lpstr>
      <vt:lpstr>THE CHALLENGE OF EMPLOYEE RETENTION</vt:lpstr>
      <vt:lpstr>SOLUTION</vt:lpstr>
      <vt:lpstr>OUR SOLUTION </vt:lpstr>
      <vt:lpstr>SOFTWARE DEMO</vt:lpstr>
      <vt:lpstr>Cybersecurity </vt:lpstr>
      <vt:lpstr>CYBERSECURITY: RGPD &amp; AI Act</vt:lpstr>
      <vt:lpstr>Explainable AI </vt:lpstr>
      <vt:lpstr>EXPLAINABLE IA &amp; TRANSPARENCY</vt:lpstr>
      <vt:lpstr>CONCLUSION : BENEFITS OF OUR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Manon GEORGES</dc:creator>
  <cp:lastModifiedBy>GEORGES Manon</cp:lastModifiedBy>
  <cp:revision>1</cp:revision>
  <dcterms:modified xsi:type="dcterms:W3CDTF">2026-03-17T10:59:08Z</dcterms:modified>
</cp:coreProperties>
</file>